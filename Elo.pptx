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04" d="100"/>
          <a:sy n="104" d="100"/>
        </p:scale>
        <p:origin x="232"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4543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(0:00-0:40)
Good morning. We were asked one question: based on this data, what kind of payment network is Elo, and where should that point the Q4 promotions programme.
Our answer, in one number, is on the right: the median Elo transaction is thirty-five Reais. That is a lunch, not a television. Everything we recommend follows from that.
I'll cover how we got the data into a usable state, then hand over.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(0:40-1:50)
First, the audit. Once we stripped the blank rows Excel had added to the new-merchant file, we had 535,000 usable records. Three problems in them would have changed our numbers.
Ninety-nine records - one in a thousand - were dragging the average ticket from eighty-eight Reais to two hundred and seventy-two, so every value figure is trimmed at the 99.9th percentile.
Sixty-three merchant IDs appear twice, and the two records disagree - on sales range, purchase volumes, even merchant group. Left in, a merchant join would double-count about five thousand transactions. We kept the first record of each.
And 2,611 transactions carry an instalment count of minus one and no category_3 - the payment type is unknown, so we leave them out of every instalment figure rather than guess.
The important step is at the bottom. purchase_amount is normalised, so nobody can read it. We used the affine de-normalisation the Kaggle community published for this dataset, and validated it ourselves, twice: by the result - no negative money, a median of thirty-five Reais, a coherent retail distribution - and with a Benford's Law test on the leading digits, which conforms with a mean absolute deviation of zero point zero zero eight six.
One honest limit before we go on: the two transaction files are different card samples, sixteen cards in common. So we compare windows, not the same card before and after.
Over to [Speaker 2].
[If asked about the file size: the new-merchant file has 1,048,575 rows, but 948,575 are empty rows of commas that Excel padded out to its sheet limit. All 100,000 real transactions are there - nothing was lost.]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(1:50-3:00)
This single chart answers the Board's identity question.
In Brazil, parcelado - splitting a purchase across monthly instalments - is the defining behaviour of the card market. On our ledger it is almost absent. Fifty-six per cent lump sum, forty per cent single payment. Everything from two instalments up is under four per cent.
Put that next to a thirty-five Real median and a lunchtime transaction peak and the identity is settled: Elo is a high-frequency, small-ticket, everyday-spend network.
That matters because everything a promotions team is tempted to do - big-ticket instalment offers, electronics tie-ups - is aimed at a network we are not.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(3:00-4:05)
Who actually transacts on our cards? The curve on the left says the portfolio is a steep Pareto: the top twenty per cent of cards carry fifty-eight per cent of spend, the bottom half carry fourteen.
So a promotions programme run as a broadcast spends most of its budget on cardholders who contribute almost nothing.
Splitting on value per month and merchant breadth gives four groups. Core Everyday is the network: a third of the cards, seventy-two per cent of the money, thirty-five transactions a month across a hundred and fifteen merchants, and the lowest decline rate. They don't need a discount - they need defending.
Big-Ticket Narrow is high value but last seen forty-three days ago - that is the reactivation target. Occasional is a third of the cards and nine per cent of spend.
The Gini coefficient is zero point five four, with a ninety-five per cent interval of zero point five one to zero point five six, so the concentration is not a sampling accident. And a k-means on the same variables also finds four distinct groups, so the structure is in the data, not in where we drew the line.
One more thing on the box at the bottom: retention is not the problem - seventy-four per cent of an activation cohort is still transacting a year later. But a hundred and ninety-one cards, holding thirty-one per cent of spend, are now past three times their own normal gap between active days. That is a targeting problem, and we come back to it in the recommendations.
Over to [Speaker 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(4:05-5:10)
Ninety-three per cent approval sounds healthy. It isn't evenly spread.
Below twenty-five Reais we decline under seven per cent of attempts. Above a thousand, nearly nineteen. The network performs worst exactly where a promotion would be trying to push someone to spend more.
We ran a logistic regression to find out what actually drives a decline. It is not mainly the amount and not mainly the instalment plan - it is one anonymised flag, category_1 equals Y, which multiplies the odds of a decline by four point three. That flag sits on six per cent of volume.
So before Elo spends anything on Q4, the risk team should tell us what that flag means. Right now we may be promoting into a population we then turn away - that costs money twice.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(5:10-6:15)
Now the merchant side. Eighty-eight per cent of our merchants sit in the two smallest revenue bands. Tier A - the giants - is three-tenths of one per cent of the base.
Green is the merchant population, blue is where transactions at known merchants land, orange is where transactions at brand-new merchants land.
Look at tier A: twenty-six per cent of incumbent transactions, but only seventeen per cent of new-merchant transactions. Now tier D: nineteen per cent incumbent, twenty-seven per cent new.
New commercial relationships form in the long tail. A promotion at a tier A merchant is mostly paying for traffic that was coming anyway.
Two more facts: thirty-nine per cent of merchants are decelerating, and eighty-two per cent of the merchants in our reference file never transact at all. That file is an archive, not a marketplace.
Over to [Speaker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(6:15-7:15)
This is the file the brief says most teams ignore, and it is the one that matters - because it is the only view in the whole export of a new commercial relationship forming. That is precisely what a promotion is trying to buy.
Three numbers. A first visit carries a forty per cent bigger ticket - a hundred and nineteen Reais against eighty-five. Instalment use roughly doubles. And each card tried about thirteen new merchants in a two-month window.
Read together: discovery is a considered purchase, it is the one moment where instalments are relevant, and our cardholders already want to explore. What they lack is direction.
Which brings us to the map.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(7:15-8:15)
This is the decision. Vertical axis: the Novelty Capture Index - how much of our new-merchant volume a category wins relative to its existing size - with ninety-five per cent intervals, so we are ranking on evidence rather than on point estimates. Horizontal axis: how many of our cardholders already use the category at all.
Bottom right, in green, is the habit channel - seventy-eight per cent of all our volume, reached by nearly every card, and the lowest discovery yield in the network. Subsector 33 alone touches ninety-seven per cent of cards. That is not a segment, it is a broadcast channel: deliver offers through it, do not discount in it.
Top right, in blue, subsectors 27 and 1. Everyone already uses the category, but they keep trying new merchants inside it. So promote individual merchants there, not the category.
Top left, in orange, is category expansion - high discovery, but under fifty-six per cent of cards have ever used them, and they carry the highest tickets in the network. Those categories need introducing.
And note the grey points: 21 and 39 looked like discovery categories on the point estimate. Their intervals cross the line, so they do not get budget. That is what the confidence intervals bought us.
Over to [Speaker 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(8:15-9:20)
Five moves.
One: move promotional emphasis from habit to discovery. The habit channel produces eight hundred and seventy-eight first-visits per thousand transactions; the discovery subsectors produce two thousand and sixty. Reallocating a third of habit exposure is worth roughly twenty-eight thousand extra first-visits - a two-point-three-five times rate difference.
Two: split that discovery budget, because it is two different jobs. Where the category is already reached, promote merchants. Where it is not, introduce the category - and those are our highest-ticket categories.
Three: subsector 33 is a channel, not a target. Ninety-seven per cent reach, novelty index zero point four two. Deliver through it, recruit merchants into it, but stop discounting in it.
Four: answer the category_1 question first. Four point three times the decline odds on six per cent of volume. One week of risk-team time.
Five: reactivate on the lapse index rather than recency. A hundred and ninety-one cards, holding thirty-one per cent of spend, are past three times their own normal rhythm - and since seventy-four per cent of cards are still active a year after activation, these cards are lapsing, not lost - which is exactly why they are worth reactivating.
And the limits, plainly: no loyalty file, two different card samples, four hundred and sixty-three cards. This ranks where discovery happens. Proving causation needs a holdout test - that is what we would ask the Board to fund.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(9:20-9:55)
Finally, what we took away from doing this.
Audit before you analyse - ninety-nine records were about to hijack every average, and sixty-three conflicting merchant duplicates would have double-counted five thousand transactions. Nobody had flagged either.
Test your own assumptions with someone else's method - we checked our currency transform with Benford's Law, and the one deviation it found was Brazilian point-ninety price endings, which is corroboration in itself.
A point estimate is an opinion; an interval is a finding - two subsectors looked like discovery categories until their confidence intervals crossed the threshold.
A variable everyone shares cannot target anything - subsector 33 reaches ninety-seven per cent of cards, so it is our best delivery channel and our worst selector.
And measure people against themselves - dividing days since last purchase by each card's own normal gap turned a dead column into a hundred-and-ninety-one-card reactivation list.
Thank you -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49808" y="1417320"/>
            <a:ext cx="7498080" cy="192024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What kind of payment</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network are we?</a:t>
            </a:r>
            <a:endParaRPr lang="en-US" sz="4200" dirty="0"/>
          </a:p>
        </p:txBody>
      </p:sp>
      <p:sp>
        <p:nvSpPr>
          <p:cNvPr id="3" name="Text 1"/>
          <p:cNvSpPr txBox="1"/>
          <p:nvPr/>
        </p:nvSpPr>
        <p:spPr>
          <a:xfrm>
            <a:off x="749808" y="3429000"/>
            <a:ext cx="7680960" cy="8229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 portfolio review of the Elo card ledger, merchant base</a:t>
            </a:r>
            <a:endParaRPr lang="en-US" sz="1600" dirty="0"/>
          </a:p>
          <a:p>
            <a:pPr marL="0" indent="0">
              <a:buNone/>
            </a:pPr>
            <a:r>
              <a:rPr lang="en-US" sz="1600" dirty="0">
                <a:solidFill>
                  <a:srgbClr val="CADCFC"/>
                </a:solidFill>
                <a:latin typeface="Calibri" pitchFamily="34" charset="0"/>
                <a:ea typeface="Calibri" pitchFamily="34" charset="-122"/>
                <a:cs typeface="Calibri" pitchFamily="34" charset="-120"/>
              </a:rPr>
              <a:t>and promotions </a:t>
            </a:r>
            <a:r>
              <a:rPr lang="en-US" sz="1600" dirty="0" err="1">
                <a:solidFill>
                  <a:srgbClr val="CADCFC"/>
                </a:solidFill>
                <a:latin typeface="Calibri" pitchFamily="34" charset="0"/>
                <a:ea typeface="Calibri" pitchFamily="34" charset="-122"/>
                <a:cs typeface="Calibri" pitchFamily="34" charset="-120"/>
              </a:rPr>
              <a:t>programme</a:t>
            </a:r>
            <a:r>
              <a:rPr lang="en-US" sz="1600" dirty="0">
                <a:solidFill>
                  <a:srgbClr val="CADCFC"/>
                </a:solidFill>
                <a:latin typeface="Calibri" pitchFamily="34" charset="0"/>
                <a:ea typeface="Calibri" pitchFamily="34" charset="-122"/>
                <a:cs typeface="Calibri" pitchFamily="34" charset="-120"/>
              </a:rPr>
              <a:t>  |  Q4 Strategy Offsite</a:t>
            </a:r>
            <a:endParaRPr lang="en-US" sz="1600" dirty="0"/>
          </a:p>
        </p:txBody>
      </p:sp>
      <p:sp>
        <p:nvSpPr>
          <p:cNvPr id="4" name="Text 2"/>
          <p:cNvSpPr txBox="1"/>
          <p:nvPr/>
        </p:nvSpPr>
        <p:spPr>
          <a:xfrm>
            <a:off x="749808" y="4892040"/>
            <a:ext cx="5486400" cy="365760"/>
          </a:xfrm>
          <a:prstGeom prst="rect">
            <a:avLst/>
          </a:prstGeom>
          <a:noFill/>
          <a:ln/>
        </p:spPr>
        <p:txBody>
          <a:bodyPr wrap="square" lIns="0" tIns="0" rIns="0" bIns="0" rtlCol="0" anchor="ctr"/>
          <a:lstStyle/>
          <a:p>
            <a:pPr marL="0" indent="0">
              <a:buNone/>
            </a:pPr>
            <a:r>
              <a:rPr lang="en-US" sz="1500" b="1" kern="0" spc="200" dirty="0">
                <a:solidFill>
                  <a:srgbClr val="EB6834"/>
                </a:solidFill>
                <a:latin typeface="Calibri" pitchFamily="34" charset="0"/>
                <a:ea typeface="Calibri" pitchFamily="34" charset="-122"/>
                <a:cs typeface="Calibri" pitchFamily="34" charset="-120"/>
              </a:rPr>
              <a:t>TEAM  ERROR 404</a:t>
            </a:r>
            <a:endParaRPr lang="en-US" sz="1500" dirty="0"/>
          </a:p>
        </p:txBody>
      </p:sp>
      <p:sp>
        <p:nvSpPr>
          <p:cNvPr id="5" name="Text 3"/>
          <p:cNvSpPr txBox="1"/>
          <p:nvPr/>
        </p:nvSpPr>
        <p:spPr>
          <a:xfrm>
            <a:off x="749808" y="3840480"/>
            <a:ext cx="10436352" cy="3446780"/>
          </a:xfrm>
          <a:prstGeom prst="rect">
            <a:avLst/>
          </a:prstGeom>
          <a:noFill/>
          <a:ln/>
        </p:spPr>
        <p:txBody>
          <a:bodyPr wrap="square" lIns="0" tIns="0" rIns="0" bIns="0" rtlCol="0" anchor="ctr"/>
          <a:lstStyle/>
          <a:p>
            <a:pPr marL="0" indent="0">
              <a:lnSpc>
                <a:spcPct val="150000"/>
              </a:lnSpc>
              <a:buNone/>
            </a:pPr>
            <a:r>
              <a:rPr lang="en-US" sz="1250" dirty="0">
                <a:solidFill>
                  <a:schemeClr val="accent2"/>
                </a:solidFill>
              </a:rPr>
              <a:t>SURYA TEJA THATAVARTI | SAMPATI RAO HIMANSHU RAO | MARURI SAI RAMA LINGA REDDY</a:t>
            </a:r>
          </a:p>
          <a:p>
            <a:pPr marL="0" indent="0">
              <a:lnSpc>
                <a:spcPct val="150000"/>
              </a:lnSpc>
              <a:buNone/>
            </a:pPr>
            <a:r>
              <a:rPr lang="en-US" sz="1250" dirty="0">
                <a:solidFill>
                  <a:schemeClr val="accent2"/>
                </a:solidFill>
              </a:rPr>
              <a:t>BODDU HIMA VENKATA GANESHA SAISRIRAM | U V MADHAV RAO</a:t>
            </a:r>
          </a:p>
        </p:txBody>
      </p:sp>
      <p:sp>
        <p:nvSpPr>
          <p:cNvPr id="6" name="Shape 4"/>
          <p:cNvSpPr/>
          <p:nvPr/>
        </p:nvSpPr>
        <p:spPr>
          <a:xfrm>
            <a:off x="8686800" y="1371600"/>
            <a:ext cx="2834640" cy="2834640"/>
          </a:xfrm>
          <a:prstGeom prst="ellipse">
            <a:avLst/>
          </a:prstGeom>
          <a:solidFill>
            <a:srgbClr val="2A3B7A"/>
          </a:solidFill>
          <a:ln/>
        </p:spPr>
        <p:txBody>
          <a:bodyPr/>
          <a:lstStyle/>
          <a:p>
            <a:endParaRPr lang="en-US"/>
          </a:p>
        </p:txBody>
      </p:sp>
      <p:sp>
        <p:nvSpPr>
          <p:cNvPr id="7" name="Text 5"/>
          <p:cNvSpPr txBox="1"/>
          <p:nvPr/>
        </p:nvSpPr>
        <p:spPr>
          <a:xfrm>
            <a:off x="8686800" y="2148840"/>
            <a:ext cx="283464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R$ 35</a:t>
            </a:r>
            <a:endParaRPr lang="en-US" sz="4000" dirty="0"/>
          </a:p>
        </p:txBody>
      </p:sp>
      <p:sp>
        <p:nvSpPr>
          <p:cNvPr id="8" name="Text 6"/>
          <p:cNvSpPr txBox="1"/>
          <p:nvPr/>
        </p:nvSpPr>
        <p:spPr>
          <a:xfrm>
            <a:off x="8686800" y="2880360"/>
            <a:ext cx="2834640" cy="36576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median transaction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Before any analysis: three problems in the data</a:t>
            </a:r>
            <a:endParaRPr lang="en-US" sz="3000" dirty="0"/>
          </a:p>
        </p:txBody>
      </p:sp>
      <p:sp>
        <p:nvSpPr>
          <p:cNvPr id="5" name="Text 3"/>
          <p:cNvSpPr txBox="1"/>
          <p:nvPr/>
        </p:nvSpPr>
        <p:spPr>
          <a:xfrm>
            <a:off x="1170432" y="914400"/>
            <a:ext cx="10424160" cy="329184"/>
          </a:xfrm>
          <a:prstGeom prst="rect">
            <a:avLst/>
          </a:prstGeom>
          <a:noFill/>
          <a:ln/>
        </p:spPr>
        <p:txBody>
          <a:bodyPr wrap="square" lIns="0" tIns="0" rIns="0" bIns="0" rtlCol="0" anchor="ctr"/>
          <a:lstStyle/>
          <a:p>
            <a:pPr marL="0" indent="0">
              <a:buNone/>
            </a:pPr>
            <a:r>
              <a:rPr lang="en-US" sz="1450" dirty="0">
                <a:solidFill>
                  <a:srgbClr val="7A839E"/>
                </a:solidFill>
                <a:latin typeface="Calibri" pitchFamily="34" charset="0"/>
                <a:ea typeface="Calibri" pitchFamily="34" charset="-122"/>
                <a:cs typeface="Calibri" pitchFamily="34" charset="-120"/>
              </a:rPr>
              <a:t>535,000 usable records once 948,575 blank Excel rows were stripped. Three problems still changed the numbers.</a:t>
            </a:r>
            <a:endParaRPr lang="en-US" sz="1450" dirty="0"/>
          </a:p>
        </p:txBody>
      </p:sp>
      <p:sp>
        <p:nvSpPr>
          <p:cNvPr id="6" name="Shape 4"/>
          <p:cNvSpPr/>
          <p:nvPr/>
        </p:nvSpPr>
        <p:spPr>
          <a:xfrm>
            <a:off x="566928" y="1481328"/>
            <a:ext cx="3520440" cy="1481328"/>
          </a:xfrm>
          <a:prstGeom prst="roundRect">
            <a:avLst>
              <a:gd name="adj" fmla="val 6173"/>
            </a:avLst>
          </a:prstGeom>
          <a:solidFill>
            <a:srgbClr val="F5F7FC"/>
          </a:solidFill>
          <a:ln w="12700">
            <a:solidFill>
              <a:srgbClr val="E4E7F0"/>
            </a:solidFill>
            <a:prstDash val="solid"/>
          </a:ln>
        </p:spPr>
        <p:txBody>
          <a:bodyPr/>
          <a:lstStyle/>
          <a:p>
            <a:endParaRPr lang="en-US"/>
          </a:p>
        </p:txBody>
      </p:sp>
      <p:sp>
        <p:nvSpPr>
          <p:cNvPr id="7" name="Text 5"/>
          <p:cNvSpPr txBox="1"/>
          <p:nvPr/>
        </p:nvSpPr>
        <p:spPr>
          <a:xfrm>
            <a:off x="566928" y="1609344"/>
            <a:ext cx="3520440" cy="713232"/>
          </a:xfrm>
          <a:prstGeom prst="rect">
            <a:avLst/>
          </a:prstGeom>
          <a:noFill/>
          <a:ln/>
        </p:spPr>
        <p:txBody>
          <a:bodyPr wrap="square" lIns="0" tIns="0" rIns="0" bIns="0" rtlCol="0" anchor="ctr"/>
          <a:lstStyle/>
          <a:p>
            <a:pPr marL="0" indent="0" algn="ctr">
              <a:buNone/>
            </a:pPr>
            <a:r>
              <a:rPr lang="en-US" sz="3400" b="1" dirty="0">
                <a:solidFill>
                  <a:srgbClr val="EB6834"/>
                </a:solidFill>
                <a:latin typeface="Cambria" pitchFamily="34" charset="0"/>
                <a:ea typeface="Cambria" pitchFamily="34" charset="-122"/>
                <a:cs typeface="Cambria" pitchFamily="34" charset="-120"/>
              </a:rPr>
              <a:t>99</a:t>
            </a:r>
            <a:endParaRPr lang="en-US" sz="3400" dirty="0"/>
          </a:p>
        </p:txBody>
      </p:sp>
      <p:sp>
        <p:nvSpPr>
          <p:cNvPr id="8" name="Text 6"/>
          <p:cNvSpPr txBox="1"/>
          <p:nvPr/>
        </p:nvSpPr>
        <p:spPr>
          <a:xfrm>
            <a:off x="694944" y="2304288"/>
            <a:ext cx="3264408" cy="566928"/>
          </a:xfrm>
          <a:prstGeom prst="rect">
            <a:avLst/>
          </a:prstGeom>
          <a:noFill/>
          <a:ln/>
        </p:spPr>
        <p:txBody>
          <a:bodyPr wrap="square" lIns="0" tIns="0" rIns="0" bIns="0" rtlCol="0" anchor="t"/>
          <a:lstStyle/>
          <a:p>
            <a:pPr marL="0" indent="0" algn="ctr">
              <a:buNone/>
            </a:pPr>
            <a:r>
              <a:rPr lang="en-US" sz="1200" dirty="0">
                <a:solidFill>
                  <a:srgbClr val="3D4664"/>
                </a:solidFill>
                <a:latin typeface="Calibri" pitchFamily="34" charset="0"/>
                <a:ea typeface="Calibri" pitchFamily="34" charset="-122"/>
                <a:cs typeface="Calibri" pitchFamily="34" charset="-120"/>
              </a:rPr>
              <a:t>extreme records (0.1%) pulling the average ticket from R$88 to R$272 - trimmed from all value figures</a:t>
            </a:r>
            <a:endParaRPr lang="en-US" sz="1200" dirty="0"/>
          </a:p>
        </p:txBody>
      </p:sp>
      <p:sp>
        <p:nvSpPr>
          <p:cNvPr id="9" name="Shape 7"/>
          <p:cNvSpPr/>
          <p:nvPr/>
        </p:nvSpPr>
        <p:spPr>
          <a:xfrm>
            <a:off x="4297680" y="1481328"/>
            <a:ext cx="3520440" cy="1481328"/>
          </a:xfrm>
          <a:prstGeom prst="roundRect">
            <a:avLst>
              <a:gd name="adj" fmla="val 6173"/>
            </a:avLst>
          </a:prstGeom>
          <a:solidFill>
            <a:srgbClr val="F5F7FC"/>
          </a:solidFill>
          <a:ln w="12700">
            <a:solidFill>
              <a:srgbClr val="E4E7F0"/>
            </a:solidFill>
            <a:prstDash val="solid"/>
          </a:ln>
        </p:spPr>
        <p:txBody>
          <a:bodyPr/>
          <a:lstStyle/>
          <a:p>
            <a:endParaRPr lang="en-US"/>
          </a:p>
        </p:txBody>
      </p:sp>
      <p:sp>
        <p:nvSpPr>
          <p:cNvPr id="10" name="Text 8"/>
          <p:cNvSpPr txBox="1"/>
          <p:nvPr/>
        </p:nvSpPr>
        <p:spPr>
          <a:xfrm>
            <a:off x="4297680" y="1609344"/>
            <a:ext cx="3520440" cy="713232"/>
          </a:xfrm>
          <a:prstGeom prst="rect">
            <a:avLst/>
          </a:prstGeom>
          <a:noFill/>
          <a:ln/>
        </p:spPr>
        <p:txBody>
          <a:bodyPr wrap="square" lIns="0" tIns="0" rIns="0" bIns="0" rtlCol="0" anchor="ctr"/>
          <a:lstStyle/>
          <a:p>
            <a:pPr marL="0" indent="0" algn="ctr">
              <a:buNone/>
            </a:pPr>
            <a:r>
              <a:rPr lang="en-US" sz="3400" b="1" dirty="0">
                <a:solidFill>
                  <a:srgbClr val="EB6834"/>
                </a:solidFill>
                <a:latin typeface="Cambria" pitchFamily="34" charset="0"/>
                <a:ea typeface="Cambria" pitchFamily="34" charset="-122"/>
                <a:cs typeface="Cambria" pitchFamily="34" charset="-120"/>
              </a:rPr>
              <a:t>63</a:t>
            </a:r>
            <a:endParaRPr lang="en-US" sz="3400" dirty="0"/>
          </a:p>
        </p:txBody>
      </p:sp>
      <p:sp>
        <p:nvSpPr>
          <p:cNvPr id="11" name="Text 9"/>
          <p:cNvSpPr txBox="1"/>
          <p:nvPr/>
        </p:nvSpPr>
        <p:spPr>
          <a:xfrm>
            <a:off x="4425696" y="2304288"/>
            <a:ext cx="3264408" cy="566928"/>
          </a:xfrm>
          <a:prstGeom prst="rect">
            <a:avLst/>
          </a:prstGeom>
          <a:noFill/>
          <a:ln/>
        </p:spPr>
        <p:txBody>
          <a:bodyPr wrap="square" lIns="0" tIns="0" rIns="0" bIns="0" rtlCol="0" anchor="t"/>
          <a:lstStyle/>
          <a:p>
            <a:pPr marL="0" indent="0" algn="ctr">
              <a:buNone/>
            </a:pPr>
            <a:r>
              <a:rPr lang="en-US" sz="1200" dirty="0">
                <a:solidFill>
                  <a:srgbClr val="3D4664"/>
                </a:solidFill>
                <a:latin typeface="Calibri" pitchFamily="34" charset="0"/>
                <a:ea typeface="Calibri" pitchFamily="34" charset="-122"/>
                <a:cs typeface="Calibri" pitchFamily="34" charset="-120"/>
              </a:rPr>
              <a:t>merchant IDs listed twice with conflicting details - left in, they double-count ~5,000 transactions</a:t>
            </a:r>
            <a:endParaRPr lang="en-US" sz="1200" dirty="0"/>
          </a:p>
        </p:txBody>
      </p:sp>
      <p:sp>
        <p:nvSpPr>
          <p:cNvPr id="12" name="Shape 10"/>
          <p:cNvSpPr/>
          <p:nvPr/>
        </p:nvSpPr>
        <p:spPr>
          <a:xfrm>
            <a:off x="8028432" y="1481328"/>
            <a:ext cx="3520440" cy="1481328"/>
          </a:xfrm>
          <a:prstGeom prst="roundRect">
            <a:avLst>
              <a:gd name="adj" fmla="val 6173"/>
            </a:avLst>
          </a:prstGeom>
          <a:solidFill>
            <a:srgbClr val="F5F7FC"/>
          </a:solidFill>
          <a:ln w="12700">
            <a:solidFill>
              <a:srgbClr val="E4E7F0"/>
            </a:solidFill>
            <a:prstDash val="solid"/>
          </a:ln>
        </p:spPr>
        <p:txBody>
          <a:bodyPr/>
          <a:lstStyle/>
          <a:p>
            <a:endParaRPr lang="en-US"/>
          </a:p>
        </p:txBody>
      </p:sp>
      <p:sp>
        <p:nvSpPr>
          <p:cNvPr id="13" name="Text 11"/>
          <p:cNvSpPr txBox="1"/>
          <p:nvPr/>
        </p:nvSpPr>
        <p:spPr>
          <a:xfrm>
            <a:off x="8028432" y="1609344"/>
            <a:ext cx="3520440" cy="713232"/>
          </a:xfrm>
          <a:prstGeom prst="rect">
            <a:avLst/>
          </a:prstGeom>
          <a:noFill/>
          <a:ln/>
        </p:spPr>
        <p:txBody>
          <a:bodyPr wrap="square" lIns="0" tIns="0" rIns="0" bIns="0" rtlCol="0" anchor="ctr"/>
          <a:lstStyle/>
          <a:p>
            <a:pPr marL="0" indent="0" algn="ctr">
              <a:buNone/>
            </a:pPr>
            <a:r>
              <a:rPr lang="en-US" sz="3400" b="1" dirty="0">
                <a:solidFill>
                  <a:srgbClr val="EB6834"/>
                </a:solidFill>
                <a:latin typeface="Cambria" pitchFamily="34" charset="0"/>
                <a:ea typeface="Cambria" pitchFamily="34" charset="-122"/>
                <a:cs typeface="Cambria" pitchFamily="34" charset="-120"/>
              </a:rPr>
              <a:t>2,611</a:t>
            </a:r>
            <a:endParaRPr lang="en-US" sz="3400" dirty="0"/>
          </a:p>
        </p:txBody>
      </p:sp>
      <p:sp>
        <p:nvSpPr>
          <p:cNvPr id="14" name="Text 12"/>
          <p:cNvSpPr txBox="1"/>
          <p:nvPr/>
        </p:nvSpPr>
        <p:spPr>
          <a:xfrm>
            <a:off x="8156448" y="2304288"/>
            <a:ext cx="3264408" cy="566928"/>
          </a:xfrm>
          <a:prstGeom prst="rect">
            <a:avLst/>
          </a:prstGeom>
          <a:noFill/>
          <a:ln/>
        </p:spPr>
        <p:txBody>
          <a:bodyPr wrap="square" lIns="0" tIns="0" rIns="0" bIns="0" rtlCol="0" anchor="t"/>
          <a:lstStyle/>
          <a:p>
            <a:pPr marL="0" indent="0" algn="ctr">
              <a:buNone/>
            </a:pPr>
            <a:r>
              <a:rPr lang="en-US" sz="1200" dirty="0">
                <a:solidFill>
                  <a:srgbClr val="3D4664"/>
                </a:solidFill>
                <a:latin typeface="Calibri" pitchFamily="34" charset="0"/>
                <a:ea typeface="Calibri" pitchFamily="34" charset="-122"/>
                <a:cs typeface="Calibri" pitchFamily="34" charset="-120"/>
              </a:rPr>
              <a:t>transactions with instalments coded -1: payment type unknown, so kept out of instalment figures</a:t>
            </a:r>
            <a:endParaRPr lang="en-US" sz="1200" dirty="0"/>
          </a:p>
        </p:txBody>
      </p:sp>
      <p:sp>
        <p:nvSpPr>
          <p:cNvPr id="15" name="Shape 13"/>
          <p:cNvSpPr/>
          <p:nvPr/>
        </p:nvSpPr>
        <p:spPr>
          <a:xfrm>
            <a:off x="566928" y="3310128"/>
            <a:ext cx="11027664" cy="2331720"/>
          </a:xfrm>
          <a:prstGeom prst="roundRect">
            <a:avLst>
              <a:gd name="adj" fmla="val 3922"/>
            </a:avLst>
          </a:prstGeom>
          <a:solidFill>
            <a:srgbClr val="1E2761"/>
          </a:solidFill>
          <a:ln/>
        </p:spPr>
        <p:txBody>
          <a:bodyPr/>
          <a:lstStyle/>
          <a:p>
            <a:endParaRPr lang="en-US"/>
          </a:p>
        </p:txBody>
      </p:sp>
      <p:sp>
        <p:nvSpPr>
          <p:cNvPr id="16" name="Text 14"/>
          <p:cNvSpPr txBox="1"/>
          <p:nvPr/>
        </p:nvSpPr>
        <p:spPr>
          <a:xfrm>
            <a:off x="978408" y="3493008"/>
            <a:ext cx="1005840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Then we made the money readable</a:t>
            </a:r>
            <a:endParaRPr lang="en-US" sz="1900" dirty="0"/>
          </a:p>
        </p:txBody>
      </p:sp>
      <p:sp>
        <p:nvSpPr>
          <p:cNvPr id="17" name="Text 15"/>
          <p:cNvSpPr txBox="1"/>
          <p:nvPr/>
        </p:nvSpPr>
        <p:spPr>
          <a:xfrm>
            <a:off x="978408" y="3895344"/>
            <a:ext cx="1005840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purchase_amount is normalised and unreadable. We adopted the Kaggle community's de-normalisation (raddar, 2019):</a:t>
            </a:r>
            <a:endParaRPr lang="en-US" sz="1400" dirty="0"/>
          </a:p>
        </p:txBody>
      </p:sp>
      <p:sp>
        <p:nvSpPr>
          <p:cNvPr id="18" name="Text 16"/>
          <p:cNvSpPr txBox="1"/>
          <p:nvPr/>
        </p:nvSpPr>
        <p:spPr>
          <a:xfrm>
            <a:off x="978408" y="4279392"/>
            <a:ext cx="8686800" cy="457200"/>
          </a:xfrm>
          <a:prstGeom prst="rect">
            <a:avLst/>
          </a:prstGeom>
          <a:noFill/>
          <a:ln/>
        </p:spPr>
        <p:txBody>
          <a:bodyPr wrap="square" lIns="0" tIns="0" rIns="0" bIns="0" rtlCol="0" anchor="ctr"/>
          <a:lstStyle/>
          <a:p>
            <a:pPr marL="0" indent="0">
              <a:buNone/>
            </a:pPr>
            <a:r>
              <a:rPr lang="en-US" sz="1600" b="1" dirty="0">
                <a:solidFill>
                  <a:srgbClr val="EB6834"/>
                </a:solidFill>
                <a:latin typeface="Courier New" pitchFamily="34" charset="0"/>
                <a:ea typeface="Courier New" pitchFamily="34" charset="-122"/>
                <a:cs typeface="Courier New" pitchFamily="34" charset="-120"/>
              </a:rPr>
              <a:t>BRL  =  purchase_amount / 0.00150265  +  497.06</a:t>
            </a:r>
            <a:endParaRPr lang="en-US" sz="1600" dirty="0"/>
          </a:p>
        </p:txBody>
      </p:sp>
      <p:sp>
        <p:nvSpPr>
          <p:cNvPr id="19" name="Text 17"/>
          <p:cNvSpPr txBox="1"/>
          <p:nvPr/>
        </p:nvSpPr>
        <p:spPr>
          <a:xfrm>
            <a:off x="978408" y="4754880"/>
            <a:ext cx="10424160" cy="7863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Validated twice. </a:t>
            </a:r>
            <a:r>
              <a:rPr lang="en-US" sz="1300" dirty="0">
                <a:solidFill>
                  <a:srgbClr val="CADCFC"/>
                </a:solidFill>
                <a:latin typeface="Calibri" pitchFamily="34" charset="0"/>
                <a:ea typeface="Calibri" pitchFamily="34" charset="-122"/>
                <a:cs typeface="Calibri" pitchFamily="34" charset="-120"/>
              </a:rPr>
              <a:t>The distribution itself - minimum R$0.01, median R$35, no negative amounts - and an independent Benford's Law test on the leading digits, which returns a Mean Absolute Deviation of 0.0086: acceptable conformity. A wrong offset would distort it.</a:t>
            </a:r>
            <a:endParaRPr lang="en-US" sz="1300" dirty="0"/>
          </a:p>
        </p:txBody>
      </p:sp>
      <p:sp>
        <p:nvSpPr>
          <p:cNvPr id="20" name="Text 18"/>
          <p:cNvSpPr txBox="1"/>
          <p:nvPr/>
        </p:nvSpPr>
        <p:spPr>
          <a:xfrm>
            <a:off x="566928" y="5870448"/>
            <a:ext cx="11027664" cy="457200"/>
          </a:xfrm>
          <a:prstGeom prst="rect">
            <a:avLst/>
          </a:prstGeom>
          <a:noFill/>
          <a:ln/>
        </p:spPr>
        <p:txBody>
          <a:bodyPr wrap="square" lIns="0" tIns="0" rIns="0" bIns="0" rtlCol="0" anchor="ctr"/>
          <a:lstStyle/>
          <a:p>
            <a:pPr marL="0" indent="0">
              <a:buNone/>
            </a:pPr>
            <a:r>
              <a:rPr lang="en-US" sz="1200" i="1" dirty="0">
                <a:solidFill>
                  <a:srgbClr val="7A839E"/>
                </a:solidFill>
                <a:latin typeface="Calibri" pitchFamily="34" charset="0"/>
                <a:ea typeface="Calibri" pitchFamily="34" charset="-122"/>
                <a:cs typeface="Calibri" pitchFamily="34" charset="-120"/>
              </a:rPr>
              <a:t>Honest limit: the two transaction files are different card samples - only 16 cards overlap - so every new-merchant finding is a portfolio-level comparison, never a within-card before/after.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Elo is not an instalment network</a:t>
            </a:r>
            <a:endParaRPr lang="en-US" sz="3000" dirty="0"/>
          </a:p>
        </p:txBody>
      </p:sp>
      <p:sp>
        <p:nvSpPr>
          <p:cNvPr id="5" name="Text 3"/>
          <p:cNvSpPr txBox="1"/>
          <p:nvPr/>
        </p:nvSpPr>
        <p:spPr>
          <a:xfrm>
            <a:off x="1170432" y="914400"/>
            <a:ext cx="10424160" cy="329184"/>
          </a:xfrm>
          <a:prstGeom prst="rect">
            <a:avLst/>
          </a:prstGeom>
          <a:noFill/>
          <a:ln/>
        </p:spPr>
        <p:txBody>
          <a:bodyPr wrap="square" lIns="0" tIns="0" rIns="0" bIns="0" rtlCol="0" anchor="ctr"/>
          <a:lstStyle/>
          <a:p>
            <a:pPr marL="0" indent="0">
              <a:buNone/>
            </a:pPr>
            <a:r>
              <a:rPr lang="en-US" sz="1450" dirty="0">
                <a:solidFill>
                  <a:srgbClr val="7A839E"/>
                </a:solidFill>
                <a:latin typeface="Calibri" pitchFamily="34" charset="0"/>
                <a:ea typeface="Calibri" pitchFamily="34" charset="-122"/>
                <a:cs typeface="Calibri" pitchFamily="34" charset="-120"/>
              </a:rPr>
              <a:t>96% of transactions settle in a single payment - in the country where parcelado defines the card market.</a:t>
            </a:r>
            <a:endParaRPr lang="en-US" sz="1450" dirty="0"/>
          </a:p>
        </p:txBody>
      </p:sp>
      <p:pic>
        <p:nvPicPr>
          <p:cNvPr id="6" name="Image 0" descr="charts/s3_instalments.png"/>
          <p:cNvPicPr>
            <a:picLocks noChangeAspect="1"/>
          </p:cNvPicPr>
          <p:nvPr/>
        </p:nvPicPr>
        <p:blipFill>
          <a:blip r:embed="rId3"/>
          <a:stretch>
            <a:fillRect/>
          </a:stretch>
        </p:blipFill>
        <p:spPr>
          <a:xfrm>
            <a:off x="2270997" y="1417320"/>
            <a:ext cx="7619525" cy="3703320"/>
          </a:xfrm>
          <a:prstGeom prst="rect">
            <a:avLst/>
          </a:prstGeom>
        </p:spPr>
      </p:pic>
      <p:sp>
        <p:nvSpPr>
          <p:cNvPr id="7" name="Shape 4"/>
          <p:cNvSpPr/>
          <p:nvPr/>
        </p:nvSpPr>
        <p:spPr>
          <a:xfrm>
            <a:off x="566928" y="5230368"/>
            <a:ext cx="11027664" cy="1060704"/>
          </a:xfrm>
          <a:prstGeom prst="roundRect">
            <a:avLst>
              <a:gd name="adj" fmla="val 6897"/>
            </a:avLst>
          </a:prstGeom>
          <a:solidFill>
            <a:srgbClr val="F5F7FC"/>
          </a:solidFill>
          <a:ln w="12700">
            <a:solidFill>
              <a:srgbClr val="E4E7F0"/>
            </a:solidFill>
            <a:prstDash val="solid"/>
          </a:ln>
        </p:spPr>
        <p:txBody>
          <a:bodyPr/>
          <a:lstStyle/>
          <a:p>
            <a:endParaRPr lang="en-US"/>
          </a:p>
        </p:txBody>
      </p:sp>
      <p:sp>
        <p:nvSpPr>
          <p:cNvPr id="8" name="Text 5"/>
          <p:cNvSpPr txBox="1"/>
          <p:nvPr/>
        </p:nvSpPr>
        <p:spPr>
          <a:xfrm>
            <a:off x="886968" y="5358384"/>
            <a:ext cx="10387584" cy="8229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The identity answer:  </a:t>
            </a:r>
            <a:r>
              <a:rPr lang="en-US" sz="1450" dirty="0">
                <a:solidFill>
                  <a:srgbClr val="3D4664"/>
                </a:solidFill>
                <a:latin typeface="Calibri" pitchFamily="34" charset="0"/>
                <a:ea typeface="Calibri" pitchFamily="34" charset="-122"/>
                <a:cs typeface="Calibri" pitchFamily="34" charset="-120"/>
              </a:rPr>
              <a:t>a high-frequency, small-ticket, everyday-spend network. Median ticket R$35, 63% of transactions under R$50, a lunchtime peak. It is the card for fuel, groceries and pharmacy - not for financing a television.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 fifth of the cards are the network</a:t>
            </a:r>
            <a:endParaRPr lang="en-US" sz="3000" dirty="0"/>
          </a:p>
        </p:txBody>
      </p:sp>
      <p:sp>
        <p:nvSpPr>
          <p:cNvPr id="5" name="Text 3"/>
          <p:cNvSpPr txBox="1"/>
          <p:nvPr/>
        </p:nvSpPr>
        <p:spPr>
          <a:xfrm>
            <a:off x="1170432" y="914400"/>
            <a:ext cx="10424160" cy="329184"/>
          </a:xfrm>
          <a:prstGeom prst="rect">
            <a:avLst/>
          </a:prstGeom>
          <a:noFill/>
          <a:ln/>
        </p:spPr>
        <p:txBody>
          <a:bodyPr wrap="square" lIns="0" tIns="0" rIns="0" bIns="0" rtlCol="0" anchor="ctr"/>
          <a:lstStyle/>
          <a:p>
            <a:pPr marL="0" indent="0">
              <a:buNone/>
            </a:pPr>
            <a:r>
              <a:rPr lang="en-US" sz="1450" dirty="0">
                <a:solidFill>
                  <a:srgbClr val="7A839E"/>
                </a:solidFill>
                <a:latin typeface="Calibri" pitchFamily="34" charset="0"/>
                <a:ea typeface="Calibri" pitchFamily="34" charset="-122"/>
                <a:cs typeface="Calibri" pitchFamily="34" charset="-120"/>
              </a:rPr>
              <a:t>Top 20% of cardholders carry 58% of spend. The bottom half carry 14%.</a:t>
            </a:r>
            <a:endParaRPr lang="en-US" sz="1450" dirty="0"/>
          </a:p>
        </p:txBody>
      </p:sp>
      <p:pic>
        <p:nvPicPr>
          <p:cNvPr id="6" name="Image 0" descr="charts/s4_pareto.png"/>
          <p:cNvPicPr>
            <a:picLocks noChangeAspect="1"/>
          </p:cNvPicPr>
          <p:nvPr/>
        </p:nvPicPr>
        <p:blipFill>
          <a:blip r:embed="rId3"/>
          <a:stretch>
            <a:fillRect/>
          </a:stretch>
        </p:blipFill>
        <p:spPr>
          <a:xfrm>
            <a:off x="566928" y="1874520"/>
            <a:ext cx="5897880" cy="2799184"/>
          </a:xfrm>
          <a:prstGeom prst="rect">
            <a:avLst/>
          </a:prstGeom>
        </p:spPr>
      </p:pic>
      <p:sp>
        <p:nvSpPr>
          <p:cNvPr id="7" name="Text 4"/>
          <p:cNvSpPr txBox="1"/>
          <p:nvPr/>
        </p:nvSpPr>
        <p:spPr>
          <a:xfrm>
            <a:off x="6583680" y="1572768"/>
            <a:ext cx="1920240" cy="274320"/>
          </a:xfrm>
          <a:prstGeom prst="rect">
            <a:avLst/>
          </a:prstGeom>
          <a:noFill/>
          <a:ln/>
        </p:spPr>
        <p:txBody>
          <a:bodyPr wrap="square" lIns="0" tIns="0" rIns="0" bIns="0" rtlCol="0" anchor="ctr"/>
          <a:lstStyle/>
          <a:p>
            <a:pPr marL="0" indent="0">
              <a:buNone/>
            </a:pPr>
            <a:r>
              <a:rPr lang="en-US" sz="1050" b="1" kern="0" spc="100" dirty="0">
                <a:solidFill>
                  <a:srgbClr val="7A839E"/>
                </a:solidFill>
                <a:latin typeface="Calibri" pitchFamily="34" charset="0"/>
                <a:ea typeface="Calibri" pitchFamily="34" charset="-122"/>
                <a:cs typeface="Calibri" pitchFamily="34" charset="-120"/>
              </a:rPr>
              <a:t>SEGMENT</a:t>
            </a:r>
            <a:endParaRPr lang="en-US" sz="1050" dirty="0"/>
          </a:p>
        </p:txBody>
      </p:sp>
      <p:sp>
        <p:nvSpPr>
          <p:cNvPr id="8" name="Text 5"/>
          <p:cNvSpPr txBox="1"/>
          <p:nvPr/>
        </p:nvSpPr>
        <p:spPr>
          <a:xfrm>
            <a:off x="8503920" y="1572768"/>
            <a:ext cx="685800" cy="274320"/>
          </a:xfrm>
          <a:prstGeom prst="rect">
            <a:avLst/>
          </a:prstGeom>
          <a:noFill/>
          <a:ln/>
        </p:spPr>
        <p:txBody>
          <a:bodyPr wrap="square" lIns="0" tIns="0" rIns="0" bIns="0" rtlCol="0" anchor="ctr"/>
          <a:lstStyle/>
          <a:p>
            <a:pPr marL="0" indent="0" algn="r">
              <a:buNone/>
            </a:pPr>
            <a:r>
              <a:rPr lang="en-US" sz="1050" b="1" kern="0" spc="100" dirty="0">
                <a:solidFill>
                  <a:srgbClr val="7A839E"/>
                </a:solidFill>
                <a:latin typeface="Calibri" pitchFamily="34" charset="0"/>
                <a:ea typeface="Calibri" pitchFamily="34" charset="-122"/>
                <a:cs typeface="Calibri" pitchFamily="34" charset="-120"/>
              </a:rPr>
              <a:t>CARDS</a:t>
            </a:r>
            <a:endParaRPr lang="en-US" sz="1050" dirty="0"/>
          </a:p>
        </p:txBody>
      </p:sp>
      <p:sp>
        <p:nvSpPr>
          <p:cNvPr id="9" name="Text 6"/>
          <p:cNvSpPr txBox="1"/>
          <p:nvPr/>
        </p:nvSpPr>
        <p:spPr>
          <a:xfrm>
            <a:off x="9235440" y="1572768"/>
            <a:ext cx="685800" cy="274320"/>
          </a:xfrm>
          <a:prstGeom prst="rect">
            <a:avLst/>
          </a:prstGeom>
          <a:noFill/>
          <a:ln/>
        </p:spPr>
        <p:txBody>
          <a:bodyPr wrap="square" lIns="0" tIns="0" rIns="0" bIns="0" rtlCol="0" anchor="ctr"/>
          <a:lstStyle/>
          <a:p>
            <a:pPr marL="0" indent="0" algn="r">
              <a:buNone/>
            </a:pPr>
            <a:r>
              <a:rPr lang="en-US" sz="1050" b="1" kern="0" spc="100" dirty="0">
                <a:solidFill>
                  <a:srgbClr val="7A839E"/>
                </a:solidFill>
                <a:latin typeface="Calibri" pitchFamily="34" charset="0"/>
                <a:ea typeface="Calibri" pitchFamily="34" charset="-122"/>
                <a:cs typeface="Calibri" pitchFamily="34" charset="-120"/>
              </a:rPr>
              <a:t>SPEND</a:t>
            </a:r>
            <a:endParaRPr lang="en-US" sz="1050" dirty="0"/>
          </a:p>
        </p:txBody>
      </p:sp>
      <p:sp>
        <p:nvSpPr>
          <p:cNvPr id="10" name="Shape 7"/>
          <p:cNvSpPr/>
          <p:nvPr/>
        </p:nvSpPr>
        <p:spPr>
          <a:xfrm>
            <a:off x="6583680" y="1901952"/>
            <a:ext cx="5010912" cy="822960"/>
          </a:xfrm>
          <a:prstGeom prst="roundRect">
            <a:avLst>
              <a:gd name="adj" fmla="val 7778"/>
            </a:avLst>
          </a:prstGeom>
          <a:solidFill>
            <a:srgbClr val="EAF0FB"/>
          </a:solidFill>
          <a:ln w="19050">
            <a:solidFill>
              <a:srgbClr val="1E2761"/>
            </a:solidFill>
            <a:prstDash val="solid"/>
          </a:ln>
        </p:spPr>
        <p:txBody>
          <a:bodyPr/>
          <a:lstStyle/>
          <a:p>
            <a:endParaRPr lang="en-US"/>
          </a:p>
        </p:txBody>
      </p:sp>
      <p:sp>
        <p:nvSpPr>
          <p:cNvPr id="11" name="Text 8"/>
          <p:cNvSpPr txBox="1"/>
          <p:nvPr/>
        </p:nvSpPr>
        <p:spPr>
          <a:xfrm>
            <a:off x="6729984" y="1965960"/>
            <a:ext cx="1828800" cy="32918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Core Everyday</a:t>
            </a:r>
            <a:endParaRPr lang="en-US" sz="1300" dirty="0"/>
          </a:p>
        </p:txBody>
      </p:sp>
      <p:sp>
        <p:nvSpPr>
          <p:cNvPr id="12" name="Text 9"/>
          <p:cNvSpPr txBox="1"/>
          <p:nvPr/>
        </p:nvSpPr>
        <p:spPr>
          <a:xfrm>
            <a:off x="8503920" y="1965960"/>
            <a:ext cx="685800" cy="329184"/>
          </a:xfrm>
          <a:prstGeom prst="rect">
            <a:avLst/>
          </a:prstGeom>
          <a:noFill/>
          <a:ln/>
        </p:spPr>
        <p:txBody>
          <a:bodyPr wrap="square" lIns="0" tIns="0" rIns="0" bIns="0" rtlCol="0" anchor="ctr"/>
          <a:lstStyle/>
          <a:p>
            <a:pPr marL="0" indent="0" algn="r">
              <a:buNone/>
            </a:pPr>
            <a:r>
              <a:rPr lang="en-US" sz="1300" dirty="0">
                <a:solidFill>
                  <a:srgbClr val="3D4664"/>
                </a:solidFill>
                <a:latin typeface="Calibri" pitchFamily="34" charset="0"/>
                <a:ea typeface="Calibri" pitchFamily="34" charset="-122"/>
                <a:cs typeface="Calibri" pitchFamily="34" charset="-120"/>
              </a:rPr>
              <a:t>37%</a:t>
            </a:r>
            <a:endParaRPr lang="en-US" sz="1300" dirty="0"/>
          </a:p>
        </p:txBody>
      </p:sp>
      <p:sp>
        <p:nvSpPr>
          <p:cNvPr id="13" name="Text 10"/>
          <p:cNvSpPr txBox="1"/>
          <p:nvPr/>
        </p:nvSpPr>
        <p:spPr>
          <a:xfrm>
            <a:off x="9235440" y="1965960"/>
            <a:ext cx="685800" cy="329184"/>
          </a:xfrm>
          <a:prstGeom prst="rect">
            <a:avLst/>
          </a:prstGeom>
          <a:noFill/>
          <a:ln/>
        </p:spPr>
        <p:txBody>
          <a:bodyPr wrap="square" lIns="0" tIns="0" rIns="0" bIns="0" rtlCol="0" anchor="ctr"/>
          <a:lstStyle/>
          <a:p>
            <a:pPr marL="0" indent="0" algn="r">
              <a:buNone/>
            </a:pPr>
            <a:r>
              <a:rPr lang="en-US" sz="1500" b="1" dirty="0">
                <a:solidFill>
                  <a:srgbClr val="EB6834"/>
                </a:solidFill>
                <a:latin typeface="Cambria" pitchFamily="34" charset="0"/>
                <a:ea typeface="Cambria" pitchFamily="34" charset="-122"/>
                <a:cs typeface="Cambria" pitchFamily="34" charset="-120"/>
              </a:rPr>
              <a:t>72%</a:t>
            </a:r>
            <a:endParaRPr lang="en-US" sz="1500" dirty="0"/>
          </a:p>
        </p:txBody>
      </p:sp>
      <p:sp>
        <p:nvSpPr>
          <p:cNvPr id="14" name="Text 11"/>
          <p:cNvSpPr txBox="1"/>
          <p:nvPr/>
        </p:nvSpPr>
        <p:spPr>
          <a:xfrm>
            <a:off x="6729984" y="2304288"/>
            <a:ext cx="4709160" cy="365760"/>
          </a:xfrm>
          <a:prstGeom prst="rect">
            <a:avLst/>
          </a:prstGeom>
          <a:noFill/>
          <a:ln/>
        </p:spPr>
        <p:txBody>
          <a:bodyPr wrap="square" lIns="0" tIns="0" rIns="0" bIns="0" rtlCol="0" anchor="ctr"/>
          <a:lstStyle/>
          <a:p>
            <a:pPr marL="0" indent="0">
              <a:buNone/>
            </a:pPr>
            <a:r>
              <a:rPr lang="en-US" sz="1150" dirty="0">
                <a:solidFill>
                  <a:srgbClr val="7A839E"/>
                </a:solidFill>
                <a:latin typeface="Calibri" pitchFamily="34" charset="0"/>
                <a:ea typeface="Calibri" pitchFamily="34" charset="-122"/>
                <a:cs typeface="Calibri" pitchFamily="34" charset="-120"/>
              </a:rPr>
              <a:t>Retain, defend top-of-wallet</a:t>
            </a:r>
            <a:endParaRPr lang="en-US" sz="1150" dirty="0"/>
          </a:p>
        </p:txBody>
      </p:sp>
      <p:sp>
        <p:nvSpPr>
          <p:cNvPr id="15" name="Shape 12"/>
          <p:cNvSpPr/>
          <p:nvPr/>
        </p:nvSpPr>
        <p:spPr>
          <a:xfrm>
            <a:off x="6583680" y="2834640"/>
            <a:ext cx="5010912" cy="822960"/>
          </a:xfrm>
          <a:prstGeom prst="roundRect">
            <a:avLst>
              <a:gd name="adj" fmla="val 7778"/>
            </a:avLst>
          </a:prstGeom>
          <a:solidFill>
            <a:srgbClr val="F5F7FC"/>
          </a:solidFill>
          <a:ln w="12700">
            <a:solidFill>
              <a:srgbClr val="E4E7F0"/>
            </a:solidFill>
            <a:prstDash val="solid"/>
          </a:ln>
        </p:spPr>
        <p:txBody>
          <a:bodyPr/>
          <a:lstStyle/>
          <a:p>
            <a:endParaRPr lang="en-US"/>
          </a:p>
        </p:txBody>
      </p:sp>
      <p:sp>
        <p:nvSpPr>
          <p:cNvPr id="16" name="Text 13"/>
          <p:cNvSpPr txBox="1"/>
          <p:nvPr/>
        </p:nvSpPr>
        <p:spPr>
          <a:xfrm>
            <a:off x="6729984" y="2898648"/>
            <a:ext cx="1828800" cy="32918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Big-Ticket Narrow</a:t>
            </a:r>
            <a:endParaRPr lang="en-US" sz="1300" dirty="0"/>
          </a:p>
        </p:txBody>
      </p:sp>
      <p:sp>
        <p:nvSpPr>
          <p:cNvPr id="17" name="Text 14"/>
          <p:cNvSpPr txBox="1"/>
          <p:nvPr/>
        </p:nvSpPr>
        <p:spPr>
          <a:xfrm>
            <a:off x="8503920" y="2898648"/>
            <a:ext cx="685800" cy="329184"/>
          </a:xfrm>
          <a:prstGeom prst="rect">
            <a:avLst/>
          </a:prstGeom>
          <a:noFill/>
          <a:ln/>
        </p:spPr>
        <p:txBody>
          <a:bodyPr wrap="square" lIns="0" tIns="0" rIns="0" bIns="0" rtlCol="0" anchor="ctr"/>
          <a:lstStyle/>
          <a:p>
            <a:pPr marL="0" indent="0" algn="r">
              <a:buNone/>
            </a:pPr>
            <a:r>
              <a:rPr lang="en-US" sz="1300" dirty="0">
                <a:solidFill>
                  <a:srgbClr val="3D4664"/>
                </a:solidFill>
                <a:latin typeface="Calibri" pitchFamily="34" charset="0"/>
                <a:ea typeface="Calibri" pitchFamily="34" charset="-122"/>
                <a:cs typeface="Calibri" pitchFamily="34" charset="-120"/>
              </a:rPr>
              <a:t>13%</a:t>
            </a:r>
            <a:endParaRPr lang="en-US" sz="1300" dirty="0"/>
          </a:p>
        </p:txBody>
      </p:sp>
      <p:sp>
        <p:nvSpPr>
          <p:cNvPr id="18" name="Text 15"/>
          <p:cNvSpPr txBox="1"/>
          <p:nvPr/>
        </p:nvSpPr>
        <p:spPr>
          <a:xfrm>
            <a:off x="9235440" y="2898648"/>
            <a:ext cx="685800" cy="329184"/>
          </a:xfrm>
          <a:prstGeom prst="rect">
            <a:avLst/>
          </a:prstGeom>
          <a:noFill/>
          <a:ln/>
        </p:spPr>
        <p:txBody>
          <a:bodyPr wrap="square" lIns="0" tIns="0" rIns="0" bIns="0" rtlCol="0" anchor="ctr"/>
          <a:lstStyle/>
          <a:p>
            <a:pPr marL="0" indent="0" algn="r">
              <a:buNone/>
            </a:pPr>
            <a:r>
              <a:rPr lang="en-US" sz="1500" b="1" dirty="0">
                <a:solidFill>
                  <a:srgbClr val="3D4664"/>
                </a:solidFill>
                <a:latin typeface="Cambria" pitchFamily="34" charset="0"/>
                <a:ea typeface="Cambria" pitchFamily="34" charset="-122"/>
                <a:cs typeface="Cambria" pitchFamily="34" charset="-120"/>
              </a:rPr>
              <a:t>13%</a:t>
            </a:r>
            <a:endParaRPr lang="en-US" sz="1500" dirty="0"/>
          </a:p>
        </p:txBody>
      </p:sp>
      <p:sp>
        <p:nvSpPr>
          <p:cNvPr id="19" name="Text 16"/>
          <p:cNvSpPr txBox="1"/>
          <p:nvPr/>
        </p:nvSpPr>
        <p:spPr>
          <a:xfrm>
            <a:off x="6729984" y="3236976"/>
            <a:ext cx="4709160" cy="365760"/>
          </a:xfrm>
          <a:prstGeom prst="rect">
            <a:avLst/>
          </a:prstGeom>
          <a:noFill/>
          <a:ln/>
        </p:spPr>
        <p:txBody>
          <a:bodyPr wrap="square" lIns="0" tIns="0" rIns="0" bIns="0" rtlCol="0" anchor="ctr"/>
          <a:lstStyle/>
          <a:p>
            <a:pPr marL="0" indent="0">
              <a:buNone/>
            </a:pPr>
            <a:r>
              <a:rPr lang="en-US" sz="1150" dirty="0">
                <a:solidFill>
                  <a:srgbClr val="7A839E"/>
                </a:solidFill>
                <a:latin typeface="Calibri" pitchFamily="34" charset="0"/>
                <a:ea typeface="Calibri" pitchFamily="34" charset="-122"/>
                <a:cs typeface="Calibri" pitchFamily="34" charset="-120"/>
              </a:rPr>
              <a:t>Reactivate - 43 days since last use</a:t>
            </a:r>
            <a:endParaRPr lang="en-US" sz="1150" dirty="0"/>
          </a:p>
        </p:txBody>
      </p:sp>
      <p:sp>
        <p:nvSpPr>
          <p:cNvPr id="20" name="Shape 17"/>
          <p:cNvSpPr/>
          <p:nvPr/>
        </p:nvSpPr>
        <p:spPr>
          <a:xfrm>
            <a:off x="6583680" y="3767328"/>
            <a:ext cx="5010912" cy="822960"/>
          </a:xfrm>
          <a:prstGeom prst="roundRect">
            <a:avLst>
              <a:gd name="adj" fmla="val 7778"/>
            </a:avLst>
          </a:prstGeom>
          <a:solidFill>
            <a:srgbClr val="F5F7FC"/>
          </a:solidFill>
          <a:ln w="12700">
            <a:solidFill>
              <a:srgbClr val="E4E7F0"/>
            </a:solidFill>
            <a:prstDash val="solid"/>
          </a:ln>
        </p:spPr>
        <p:txBody>
          <a:bodyPr/>
          <a:lstStyle/>
          <a:p>
            <a:endParaRPr lang="en-US"/>
          </a:p>
        </p:txBody>
      </p:sp>
      <p:sp>
        <p:nvSpPr>
          <p:cNvPr id="21" name="Text 18"/>
          <p:cNvSpPr txBox="1"/>
          <p:nvPr/>
        </p:nvSpPr>
        <p:spPr>
          <a:xfrm>
            <a:off x="6729984" y="3831336"/>
            <a:ext cx="1828800" cy="32918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Explorer Light</a:t>
            </a:r>
            <a:endParaRPr lang="en-US" sz="1300" dirty="0"/>
          </a:p>
        </p:txBody>
      </p:sp>
      <p:sp>
        <p:nvSpPr>
          <p:cNvPr id="22" name="Text 19"/>
          <p:cNvSpPr txBox="1"/>
          <p:nvPr/>
        </p:nvSpPr>
        <p:spPr>
          <a:xfrm>
            <a:off x="8503920" y="3831336"/>
            <a:ext cx="685800" cy="329184"/>
          </a:xfrm>
          <a:prstGeom prst="rect">
            <a:avLst/>
          </a:prstGeom>
          <a:noFill/>
          <a:ln/>
        </p:spPr>
        <p:txBody>
          <a:bodyPr wrap="square" lIns="0" tIns="0" rIns="0" bIns="0" rtlCol="0" anchor="ctr"/>
          <a:lstStyle/>
          <a:p>
            <a:pPr marL="0" indent="0" algn="r">
              <a:buNone/>
            </a:pPr>
            <a:r>
              <a:rPr lang="en-US" sz="1300" dirty="0">
                <a:solidFill>
                  <a:srgbClr val="3D4664"/>
                </a:solidFill>
                <a:latin typeface="Calibri" pitchFamily="34" charset="0"/>
                <a:ea typeface="Calibri" pitchFamily="34" charset="-122"/>
                <a:cs typeface="Calibri" pitchFamily="34" charset="-120"/>
              </a:rPr>
              <a:t>14%</a:t>
            </a:r>
            <a:endParaRPr lang="en-US" sz="1300" dirty="0"/>
          </a:p>
        </p:txBody>
      </p:sp>
      <p:sp>
        <p:nvSpPr>
          <p:cNvPr id="23" name="Text 20"/>
          <p:cNvSpPr txBox="1"/>
          <p:nvPr/>
        </p:nvSpPr>
        <p:spPr>
          <a:xfrm>
            <a:off x="9235440" y="3831336"/>
            <a:ext cx="685800" cy="329184"/>
          </a:xfrm>
          <a:prstGeom prst="rect">
            <a:avLst/>
          </a:prstGeom>
          <a:noFill/>
          <a:ln/>
        </p:spPr>
        <p:txBody>
          <a:bodyPr wrap="square" lIns="0" tIns="0" rIns="0" bIns="0" rtlCol="0" anchor="ctr"/>
          <a:lstStyle/>
          <a:p>
            <a:pPr marL="0" indent="0" algn="r">
              <a:buNone/>
            </a:pPr>
            <a:r>
              <a:rPr lang="en-US" sz="1500" b="1" dirty="0">
                <a:solidFill>
                  <a:srgbClr val="3D4664"/>
                </a:solidFill>
                <a:latin typeface="Cambria" pitchFamily="34" charset="0"/>
                <a:ea typeface="Cambria" pitchFamily="34" charset="-122"/>
                <a:cs typeface="Cambria" pitchFamily="34" charset="-120"/>
              </a:rPr>
              <a:t>7%</a:t>
            </a:r>
            <a:endParaRPr lang="en-US" sz="1500" dirty="0"/>
          </a:p>
        </p:txBody>
      </p:sp>
      <p:sp>
        <p:nvSpPr>
          <p:cNvPr id="24" name="Text 21"/>
          <p:cNvSpPr txBox="1"/>
          <p:nvPr/>
        </p:nvSpPr>
        <p:spPr>
          <a:xfrm>
            <a:off x="6729984" y="4169664"/>
            <a:ext cx="4709160" cy="365760"/>
          </a:xfrm>
          <a:prstGeom prst="rect">
            <a:avLst/>
          </a:prstGeom>
          <a:noFill/>
          <a:ln/>
        </p:spPr>
        <p:txBody>
          <a:bodyPr wrap="square" lIns="0" tIns="0" rIns="0" bIns="0" rtlCol="0" anchor="ctr"/>
          <a:lstStyle/>
          <a:p>
            <a:pPr marL="0" indent="0">
              <a:buNone/>
            </a:pPr>
            <a:r>
              <a:rPr lang="en-US" sz="1150" dirty="0">
                <a:solidFill>
                  <a:srgbClr val="7A839E"/>
                </a:solidFill>
                <a:latin typeface="Calibri" pitchFamily="34" charset="0"/>
                <a:ea typeface="Calibri" pitchFamily="34" charset="-122"/>
                <a:cs typeface="Calibri" pitchFamily="34" charset="-120"/>
              </a:rPr>
              <a:t>Discovery offers - 74 merchants, R$41 ticket</a:t>
            </a:r>
            <a:endParaRPr lang="en-US" sz="1150" dirty="0"/>
          </a:p>
        </p:txBody>
      </p:sp>
      <p:sp>
        <p:nvSpPr>
          <p:cNvPr id="25" name="Shape 22"/>
          <p:cNvSpPr/>
          <p:nvPr/>
        </p:nvSpPr>
        <p:spPr>
          <a:xfrm>
            <a:off x="6583680" y="4700016"/>
            <a:ext cx="5010912" cy="822960"/>
          </a:xfrm>
          <a:prstGeom prst="roundRect">
            <a:avLst>
              <a:gd name="adj" fmla="val 7778"/>
            </a:avLst>
          </a:prstGeom>
          <a:solidFill>
            <a:srgbClr val="F5F7FC"/>
          </a:solidFill>
          <a:ln w="12700">
            <a:solidFill>
              <a:srgbClr val="E4E7F0"/>
            </a:solidFill>
            <a:prstDash val="solid"/>
          </a:ln>
        </p:spPr>
        <p:txBody>
          <a:bodyPr/>
          <a:lstStyle/>
          <a:p>
            <a:endParaRPr lang="en-US"/>
          </a:p>
        </p:txBody>
      </p:sp>
      <p:sp>
        <p:nvSpPr>
          <p:cNvPr id="26" name="Text 23"/>
          <p:cNvSpPr txBox="1"/>
          <p:nvPr/>
        </p:nvSpPr>
        <p:spPr>
          <a:xfrm>
            <a:off x="6729984" y="4764024"/>
            <a:ext cx="1828800" cy="329184"/>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Occasional</a:t>
            </a:r>
            <a:endParaRPr lang="en-US" sz="1300" dirty="0"/>
          </a:p>
        </p:txBody>
      </p:sp>
      <p:sp>
        <p:nvSpPr>
          <p:cNvPr id="27" name="Text 24"/>
          <p:cNvSpPr txBox="1"/>
          <p:nvPr/>
        </p:nvSpPr>
        <p:spPr>
          <a:xfrm>
            <a:off x="8503920" y="4764024"/>
            <a:ext cx="685800" cy="329184"/>
          </a:xfrm>
          <a:prstGeom prst="rect">
            <a:avLst/>
          </a:prstGeom>
          <a:noFill/>
          <a:ln/>
        </p:spPr>
        <p:txBody>
          <a:bodyPr wrap="square" lIns="0" tIns="0" rIns="0" bIns="0" rtlCol="0" anchor="ctr"/>
          <a:lstStyle/>
          <a:p>
            <a:pPr marL="0" indent="0" algn="r">
              <a:buNone/>
            </a:pPr>
            <a:r>
              <a:rPr lang="en-US" sz="1300" dirty="0">
                <a:solidFill>
                  <a:srgbClr val="3D4664"/>
                </a:solidFill>
                <a:latin typeface="Calibri" pitchFamily="34" charset="0"/>
                <a:ea typeface="Calibri" pitchFamily="34" charset="-122"/>
                <a:cs typeface="Calibri" pitchFamily="34" charset="-120"/>
              </a:rPr>
              <a:t>36%</a:t>
            </a:r>
            <a:endParaRPr lang="en-US" sz="1300" dirty="0"/>
          </a:p>
        </p:txBody>
      </p:sp>
      <p:sp>
        <p:nvSpPr>
          <p:cNvPr id="28" name="Text 25"/>
          <p:cNvSpPr txBox="1"/>
          <p:nvPr/>
        </p:nvSpPr>
        <p:spPr>
          <a:xfrm>
            <a:off x="9235440" y="4764024"/>
            <a:ext cx="685800" cy="329184"/>
          </a:xfrm>
          <a:prstGeom prst="rect">
            <a:avLst/>
          </a:prstGeom>
          <a:noFill/>
          <a:ln/>
        </p:spPr>
        <p:txBody>
          <a:bodyPr wrap="square" lIns="0" tIns="0" rIns="0" bIns="0" rtlCol="0" anchor="ctr"/>
          <a:lstStyle/>
          <a:p>
            <a:pPr marL="0" indent="0" algn="r">
              <a:buNone/>
            </a:pPr>
            <a:r>
              <a:rPr lang="en-US" sz="1500" b="1" dirty="0">
                <a:solidFill>
                  <a:srgbClr val="3D4664"/>
                </a:solidFill>
                <a:latin typeface="Cambria" pitchFamily="34" charset="0"/>
                <a:ea typeface="Cambria" pitchFamily="34" charset="-122"/>
                <a:cs typeface="Cambria" pitchFamily="34" charset="-120"/>
              </a:rPr>
              <a:t>9%</a:t>
            </a:r>
            <a:endParaRPr lang="en-US" sz="1500" dirty="0"/>
          </a:p>
        </p:txBody>
      </p:sp>
      <p:sp>
        <p:nvSpPr>
          <p:cNvPr id="29" name="Text 26"/>
          <p:cNvSpPr txBox="1"/>
          <p:nvPr/>
        </p:nvSpPr>
        <p:spPr>
          <a:xfrm>
            <a:off x="6729984" y="5102352"/>
            <a:ext cx="4709160" cy="365760"/>
          </a:xfrm>
          <a:prstGeom prst="rect">
            <a:avLst/>
          </a:prstGeom>
          <a:noFill/>
          <a:ln/>
        </p:spPr>
        <p:txBody>
          <a:bodyPr wrap="square" lIns="0" tIns="0" rIns="0" bIns="0" rtlCol="0" anchor="ctr"/>
          <a:lstStyle/>
          <a:p>
            <a:pPr marL="0" indent="0">
              <a:buNone/>
            </a:pPr>
            <a:r>
              <a:rPr lang="en-US" sz="1150" dirty="0">
                <a:solidFill>
                  <a:srgbClr val="7A839E"/>
                </a:solidFill>
                <a:latin typeface="Calibri" pitchFamily="34" charset="0"/>
                <a:ea typeface="Calibri" pitchFamily="34" charset="-122"/>
                <a:cs typeface="Calibri" pitchFamily="34" charset="-120"/>
              </a:rPr>
              <a:t>Last call on the budget</a:t>
            </a:r>
            <a:endParaRPr lang="en-US" sz="1150" dirty="0"/>
          </a:p>
        </p:txBody>
      </p:sp>
      <p:sp>
        <p:nvSpPr>
          <p:cNvPr id="30" name="Text 27"/>
          <p:cNvSpPr txBox="1"/>
          <p:nvPr/>
        </p:nvSpPr>
        <p:spPr>
          <a:xfrm>
            <a:off x="566928" y="4846320"/>
            <a:ext cx="5897880" cy="457200"/>
          </a:xfrm>
          <a:prstGeom prst="rect">
            <a:avLst/>
          </a:prstGeom>
          <a:noFill/>
          <a:ln/>
        </p:spPr>
        <p:txBody>
          <a:bodyPr wrap="square" lIns="0" tIns="0" rIns="0" bIns="0" rtlCol="0" anchor="t"/>
          <a:lstStyle/>
          <a:p>
            <a:pPr marL="0" indent="0">
              <a:buNone/>
            </a:pPr>
            <a:r>
              <a:rPr lang="en-US" sz="1200" i="1" dirty="0">
                <a:solidFill>
                  <a:srgbClr val="7A839E"/>
                </a:solidFill>
                <a:latin typeface="Calibri" pitchFamily="34" charset="0"/>
                <a:ea typeface="Calibri" pitchFamily="34" charset="-122"/>
                <a:cs typeface="Calibri" pitchFamily="34" charset="-120"/>
              </a:rPr>
              <a:t>Gini 0.54 (95% CI 0.51-0.56). A k-means on the same variables also finds four distinct groups.</a:t>
            </a:r>
            <a:endParaRPr lang="en-US" sz="1200" dirty="0"/>
          </a:p>
        </p:txBody>
      </p:sp>
      <p:sp>
        <p:nvSpPr>
          <p:cNvPr id="31" name="Shape 28"/>
          <p:cNvSpPr/>
          <p:nvPr/>
        </p:nvSpPr>
        <p:spPr>
          <a:xfrm>
            <a:off x="566928" y="5632704"/>
            <a:ext cx="11027664" cy="877824"/>
          </a:xfrm>
          <a:prstGeom prst="roundRect">
            <a:avLst>
              <a:gd name="adj" fmla="val 8333"/>
            </a:avLst>
          </a:prstGeom>
          <a:solidFill>
            <a:srgbClr val="F5F7FC"/>
          </a:solidFill>
          <a:ln w="12700">
            <a:solidFill>
              <a:srgbClr val="E4E7F0"/>
            </a:solidFill>
            <a:prstDash val="solid"/>
          </a:ln>
        </p:spPr>
        <p:txBody>
          <a:bodyPr/>
          <a:lstStyle/>
          <a:p>
            <a:endParaRPr lang="en-US"/>
          </a:p>
        </p:txBody>
      </p:sp>
      <p:sp>
        <p:nvSpPr>
          <p:cNvPr id="32" name="Text 29"/>
          <p:cNvSpPr txBox="1"/>
          <p:nvPr/>
        </p:nvSpPr>
        <p:spPr>
          <a:xfrm>
            <a:off x="886968" y="5733288"/>
            <a:ext cx="10387584" cy="676656"/>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Retention is not the problem - targeting is.  </a:t>
            </a:r>
            <a:r>
              <a:rPr lang="en-US" sz="1350" dirty="0">
                <a:solidFill>
                  <a:srgbClr val="3D4664"/>
                </a:solidFill>
                <a:latin typeface="Calibri" pitchFamily="34" charset="0"/>
                <a:ea typeface="Calibri" pitchFamily="34" charset="-122"/>
                <a:cs typeface="Calibri" pitchFamily="34" charset="-120"/>
              </a:rPr>
              <a:t>74% of an activation cohort is still transacting twelve months on. But 191 cards - 41% of the base, holding 31% of spend - are now past three times their own normal gap between active days.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 93% approval rate is hiding a targeted leak</a:t>
            </a:r>
            <a:endParaRPr lang="en-US" sz="3000" dirty="0"/>
          </a:p>
        </p:txBody>
      </p:sp>
      <p:sp>
        <p:nvSpPr>
          <p:cNvPr id="5" name="Text 3"/>
          <p:cNvSpPr txBox="1"/>
          <p:nvPr/>
        </p:nvSpPr>
        <p:spPr>
          <a:xfrm>
            <a:off x="1170432" y="914400"/>
            <a:ext cx="10424160" cy="329184"/>
          </a:xfrm>
          <a:prstGeom prst="rect">
            <a:avLst/>
          </a:prstGeom>
          <a:noFill/>
          <a:ln/>
        </p:spPr>
        <p:txBody>
          <a:bodyPr wrap="square" lIns="0" tIns="0" rIns="0" bIns="0" rtlCol="0" anchor="ctr"/>
          <a:lstStyle/>
          <a:p>
            <a:pPr marL="0" indent="0">
              <a:buNone/>
            </a:pPr>
            <a:r>
              <a:rPr lang="en-US" sz="1450" dirty="0">
                <a:solidFill>
                  <a:srgbClr val="7A839E"/>
                </a:solidFill>
                <a:latin typeface="Calibri" pitchFamily="34" charset="0"/>
                <a:ea typeface="Calibri" pitchFamily="34" charset="-122"/>
                <a:cs typeface="Calibri" pitchFamily="34" charset="-120"/>
              </a:rPr>
              <a:t>Declines climb from 6.7% on small baskets to 18.7% above R$1,000 - worst exactly where a promotion pushes a trade-up.</a:t>
            </a:r>
            <a:endParaRPr lang="en-US" sz="1450" dirty="0"/>
          </a:p>
        </p:txBody>
      </p:sp>
      <p:pic>
        <p:nvPicPr>
          <p:cNvPr id="6" name="Image 0" descr="charts/s5_declines.png"/>
          <p:cNvPicPr>
            <a:picLocks noChangeAspect="1"/>
          </p:cNvPicPr>
          <p:nvPr/>
        </p:nvPicPr>
        <p:blipFill>
          <a:blip r:embed="rId3"/>
          <a:stretch>
            <a:fillRect/>
          </a:stretch>
        </p:blipFill>
        <p:spPr>
          <a:xfrm>
            <a:off x="566928" y="1426464"/>
            <a:ext cx="7059168" cy="3367924"/>
          </a:xfrm>
          <a:prstGeom prst="rect">
            <a:avLst/>
          </a:prstGeom>
        </p:spPr>
      </p:pic>
      <p:sp>
        <p:nvSpPr>
          <p:cNvPr id="7" name="Shape 4"/>
          <p:cNvSpPr/>
          <p:nvPr/>
        </p:nvSpPr>
        <p:spPr>
          <a:xfrm>
            <a:off x="7790688" y="1426464"/>
            <a:ext cx="3803904" cy="1874520"/>
          </a:xfrm>
          <a:prstGeom prst="roundRect">
            <a:avLst>
              <a:gd name="adj" fmla="val 4878"/>
            </a:avLst>
          </a:prstGeom>
          <a:solidFill>
            <a:srgbClr val="1E2761"/>
          </a:solidFill>
          <a:ln/>
        </p:spPr>
        <p:txBody>
          <a:bodyPr/>
          <a:lstStyle/>
          <a:p>
            <a:endParaRPr lang="en-US"/>
          </a:p>
        </p:txBody>
      </p:sp>
      <p:sp>
        <p:nvSpPr>
          <p:cNvPr id="8" name="Text 5"/>
          <p:cNvSpPr txBox="1"/>
          <p:nvPr/>
        </p:nvSpPr>
        <p:spPr>
          <a:xfrm>
            <a:off x="7790688" y="1572768"/>
            <a:ext cx="3803904" cy="749808"/>
          </a:xfrm>
          <a:prstGeom prst="rect">
            <a:avLst/>
          </a:prstGeom>
          <a:noFill/>
          <a:ln/>
        </p:spPr>
        <p:txBody>
          <a:bodyPr wrap="square" lIns="0" tIns="0" rIns="0" bIns="0" rtlCol="0" anchor="ctr"/>
          <a:lstStyle/>
          <a:p>
            <a:pPr marL="0" indent="0" algn="ctr">
              <a:buNone/>
            </a:pPr>
            <a:r>
              <a:rPr lang="en-US" sz="4000" b="1" dirty="0">
                <a:solidFill>
                  <a:srgbClr val="EB6834"/>
                </a:solidFill>
                <a:latin typeface="Cambria" pitchFamily="34" charset="0"/>
                <a:ea typeface="Cambria" pitchFamily="34" charset="-122"/>
                <a:cs typeface="Cambria" pitchFamily="34" charset="-120"/>
              </a:rPr>
              <a:t>4.3x</a:t>
            </a:r>
            <a:endParaRPr lang="en-US" sz="4000" dirty="0"/>
          </a:p>
        </p:txBody>
      </p:sp>
      <p:sp>
        <p:nvSpPr>
          <p:cNvPr id="9" name="Text 6"/>
          <p:cNvSpPr txBox="1"/>
          <p:nvPr/>
        </p:nvSpPr>
        <p:spPr>
          <a:xfrm>
            <a:off x="7955280" y="2340864"/>
            <a:ext cx="3474720" cy="841248"/>
          </a:xfrm>
          <a:prstGeom prst="rect">
            <a:avLst/>
          </a:prstGeom>
          <a:noFill/>
          <a:ln/>
        </p:spPr>
        <p:txBody>
          <a:bodyPr wrap="square" lIns="0" tIns="0" rIns="0" bIns="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the odds of a decline when the flag category_1 = Y is present  -  6.1% of all transactions</a:t>
            </a:r>
            <a:endParaRPr lang="en-US" sz="1250" dirty="0"/>
          </a:p>
        </p:txBody>
      </p:sp>
      <p:sp>
        <p:nvSpPr>
          <p:cNvPr id="10" name="Text 7"/>
          <p:cNvSpPr txBox="1"/>
          <p:nvPr/>
        </p:nvSpPr>
        <p:spPr>
          <a:xfrm>
            <a:off x="7790688" y="3364992"/>
            <a:ext cx="3803904" cy="274320"/>
          </a:xfrm>
          <a:prstGeom prst="rect">
            <a:avLst/>
          </a:prstGeom>
          <a:noFill/>
          <a:ln/>
        </p:spPr>
        <p:txBody>
          <a:bodyPr wrap="square" lIns="0" tIns="0" rIns="0" bIns="0" rtlCol="0" anchor="ctr"/>
          <a:lstStyle/>
          <a:p>
            <a:pPr marL="0" indent="0" algn="ctr">
              <a:buNone/>
            </a:pPr>
            <a:r>
              <a:rPr lang="en-US" sz="1050" i="1" dirty="0">
                <a:solidFill>
                  <a:srgbClr val="7A839E"/>
                </a:solidFill>
                <a:latin typeface="Calibri" pitchFamily="34" charset="0"/>
                <a:ea typeface="Calibri" pitchFamily="34" charset="-122"/>
                <a:cs typeface="Calibri" pitchFamily="34" charset="-120"/>
              </a:rPr>
              <a:t>Logistic regression on 99,571 transactions</a:t>
            </a:r>
            <a:endParaRPr lang="en-US" sz="1050" dirty="0"/>
          </a:p>
        </p:txBody>
      </p:sp>
      <p:sp>
        <p:nvSpPr>
          <p:cNvPr id="11" name="Text 8"/>
          <p:cNvSpPr txBox="1"/>
          <p:nvPr/>
        </p:nvSpPr>
        <p:spPr>
          <a:xfrm>
            <a:off x="7790688" y="3730752"/>
            <a:ext cx="3803904" cy="1325880"/>
          </a:xfrm>
          <a:prstGeom prst="rect">
            <a:avLst/>
          </a:prstGeom>
          <a:noFill/>
          <a:ln/>
        </p:spPr>
        <p:txBody>
          <a:bodyPr wrap="square" lIns="0" tIns="0" rIns="0" bIns="0" rtlCol="0" anchor="ctr"/>
          <a:lstStyle/>
          <a:p>
            <a:pPr marL="342900" indent="-342900">
              <a:lnSpc>
                <a:spcPct val="106000"/>
              </a:lnSpc>
              <a:spcAft>
                <a:spcPts val="800"/>
              </a:spcAft>
              <a:buSzPct val="100000"/>
              <a:buChar char="•"/>
            </a:pPr>
            <a:r>
              <a:rPr lang="en-US" sz="1250" dirty="0">
                <a:solidFill>
                  <a:srgbClr val="3D4664"/>
                </a:solidFill>
                <a:latin typeface="Calibri" pitchFamily="34" charset="0"/>
                <a:ea typeface="Calibri" pitchFamily="34" charset="-122"/>
                <a:cs typeface="Calibri" pitchFamily="34" charset="-120"/>
              </a:rPr>
              <a:t>Amount and instalments both matter - but one anonymised risk flag dominates both.</a:t>
            </a:r>
            <a:endParaRPr lang="en-US" sz="1250" dirty="0"/>
          </a:p>
          <a:p>
            <a:pPr marL="342900" indent="-342900">
              <a:lnSpc>
                <a:spcPct val="106000"/>
              </a:lnSpc>
              <a:buSzPct val="100000"/>
              <a:buChar char="•"/>
            </a:pPr>
            <a:r>
              <a:rPr lang="en-US" sz="1250" dirty="0">
                <a:solidFill>
                  <a:srgbClr val="3D4664"/>
                </a:solidFill>
                <a:latin typeface="Calibri" pitchFamily="34" charset="0"/>
                <a:ea typeface="Calibri" pitchFamily="34" charset="-122"/>
                <a:cs typeface="Calibri" pitchFamily="34" charset="-120"/>
              </a:rPr>
              <a:t>Chi-square, instalments x authorisation: X² = 446, p &lt; 0.001.</a:t>
            </a:r>
            <a:endParaRPr lang="en-US" sz="1250" dirty="0"/>
          </a:p>
        </p:txBody>
      </p:sp>
      <p:sp>
        <p:nvSpPr>
          <p:cNvPr id="12" name="Shape 9"/>
          <p:cNvSpPr/>
          <p:nvPr/>
        </p:nvSpPr>
        <p:spPr>
          <a:xfrm>
            <a:off x="566928" y="5230368"/>
            <a:ext cx="11027664" cy="1060704"/>
          </a:xfrm>
          <a:prstGeom prst="roundRect">
            <a:avLst>
              <a:gd name="adj" fmla="val 6897"/>
            </a:avLst>
          </a:prstGeom>
          <a:solidFill>
            <a:srgbClr val="F5F7FC"/>
          </a:solidFill>
          <a:ln w="12700">
            <a:solidFill>
              <a:srgbClr val="E4E7F0"/>
            </a:solidFill>
            <a:prstDash val="solid"/>
          </a:ln>
        </p:spPr>
        <p:txBody>
          <a:bodyPr/>
          <a:lstStyle/>
          <a:p>
            <a:endParaRPr lang="en-US"/>
          </a:p>
        </p:txBody>
      </p:sp>
      <p:sp>
        <p:nvSpPr>
          <p:cNvPr id="13" name="Text 10"/>
          <p:cNvSpPr txBox="1"/>
          <p:nvPr/>
        </p:nvSpPr>
        <p:spPr>
          <a:xfrm>
            <a:off x="886968" y="5358384"/>
            <a:ext cx="10387584" cy="8229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So what:  </a:t>
            </a:r>
            <a:r>
              <a:rPr lang="en-US" sz="1400" dirty="0">
                <a:solidFill>
                  <a:srgbClr val="3D4664"/>
                </a:solidFill>
                <a:latin typeface="Calibri" pitchFamily="34" charset="0"/>
                <a:ea typeface="Calibri" pitchFamily="34" charset="-122"/>
                <a:cs typeface="Calibri" pitchFamily="34" charset="-120"/>
              </a:rPr>
              <a:t>a promotion that pushes cardholders to a bigger basket is pushing them into our weakest approval band. Before the Q4 calendar locks, risk should say what category_1 = Y represents - we may be promoting into a population we then turn away.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Discovery happens in the long tail, not at the top</a:t>
            </a:r>
            <a:endParaRPr lang="en-US" sz="3000" dirty="0"/>
          </a:p>
        </p:txBody>
      </p:sp>
      <p:sp>
        <p:nvSpPr>
          <p:cNvPr id="5" name="Text 3"/>
          <p:cNvSpPr txBox="1"/>
          <p:nvPr/>
        </p:nvSpPr>
        <p:spPr>
          <a:xfrm>
            <a:off x="1170432" y="914400"/>
            <a:ext cx="10424160" cy="329184"/>
          </a:xfrm>
          <a:prstGeom prst="rect">
            <a:avLst/>
          </a:prstGeom>
          <a:noFill/>
          <a:ln/>
        </p:spPr>
        <p:txBody>
          <a:bodyPr wrap="square" lIns="0" tIns="0" rIns="0" bIns="0" rtlCol="0" anchor="ctr"/>
          <a:lstStyle/>
          <a:p>
            <a:pPr marL="0" indent="0">
              <a:buNone/>
            </a:pPr>
            <a:r>
              <a:rPr lang="en-US" sz="1450" dirty="0">
                <a:solidFill>
                  <a:srgbClr val="7A839E"/>
                </a:solidFill>
                <a:latin typeface="Calibri" pitchFamily="34" charset="0"/>
                <a:ea typeface="Calibri" pitchFamily="34" charset="-122"/>
                <a:cs typeface="Calibri" pitchFamily="34" charset="-120"/>
              </a:rPr>
              <a:t>Tier A is 0.3% of merchants and 26% of incumbent transactions - but only 17% of transactions at brand-new merchants.</a:t>
            </a:r>
            <a:endParaRPr lang="en-US" sz="1450" dirty="0"/>
          </a:p>
        </p:txBody>
      </p:sp>
      <p:pic>
        <p:nvPicPr>
          <p:cNvPr id="6" name="Image 0" descr="charts/s6_tiers.png"/>
          <p:cNvPicPr>
            <a:picLocks noChangeAspect="1"/>
          </p:cNvPicPr>
          <p:nvPr/>
        </p:nvPicPr>
        <p:blipFill>
          <a:blip r:embed="rId3"/>
          <a:stretch>
            <a:fillRect/>
          </a:stretch>
        </p:blipFill>
        <p:spPr>
          <a:xfrm>
            <a:off x="2498075" y="1426464"/>
            <a:ext cx="7165369" cy="3611880"/>
          </a:xfrm>
          <a:prstGeom prst="rect">
            <a:avLst/>
          </a:prstGeom>
        </p:spPr>
      </p:pic>
      <p:sp>
        <p:nvSpPr>
          <p:cNvPr id="7" name="Shape 4"/>
          <p:cNvSpPr/>
          <p:nvPr/>
        </p:nvSpPr>
        <p:spPr>
          <a:xfrm>
            <a:off x="566928" y="5193792"/>
            <a:ext cx="11027664" cy="1097280"/>
          </a:xfrm>
          <a:prstGeom prst="roundRect">
            <a:avLst>
              <a:gd name="adj" fmla="val 6667"/>
            </a:avLst>
          </a:prstGeom>
          <a:solidFill>
            <a:srgbClr val="F5F7FC"/>
          </a:solidFill>
          <a:ln w="12700">
            <a:solidFill>
              <a:srgbClr val="E4E7F0"/>
            </a:solidFill>
            <a:prstDash val="solid"/>
          </a:ln>
        </p:spPr>
        <p:txBody>
          <a:bodyPr/>
          <a:lstStyle/>
          <a:p>
            <a:endParaRPr lang="en-US"/>
          </a:p>
        </p:txBody>
      </p:sp>
      <p:sp>
        <p:nvSpPr>
          <p:cNvPr id="8" name="Text 5"/>
          <p:cNvSpPr txBox="1"/>
          <p:nvPr/>
        </p:nvSpPr>
        <p:spPr>
          <a:xfrm>
            <a:off x="886968" y="5303520"/>
            <a:ext cx="10387584" cy="87782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So what:  </a:t>
            </a:r>
            <a:r>
              <a:rPr lang="en-US" sz="1350" dirty="0">
                <a:solidFill>
                  <a:srgbClr val="3D4664"/>
                </a:solidFill>
                <a:latin typeface="Calibri" pitchFamily="34" charset="0"/>
                <a:ea typeface="Calibri" pitchFamily="34" charset="-122"/>
                <a:cs typeface="Calibri" pitchFamily="34" charset="-120"/>
              </a:rPr>
              <a:t>a promotion placed with a tier A merchant largely pays for traffic that was happening anyway. New relationships form in tiers C and D. Add the supply-side picture - 39% of merchants are decelerating, and 82% of the reference file never transacts at all - and the merchant base needs pruning as much as promoting.</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file everyone ignores is the one that matters</a:t>
            </a:r>
            <a:endParaRPr lang="en-US" sz="3000" dirty="0"/>
          </a:p>
        </p:txBody>
      </p:sp>
      <p:sp>
        <p:nvSpPr>
          <p:cNvPr id="5" name="Text 3"/>
          <p:cNvSpPr txBox="1"/>
          <p:nvPr/>
        </p:nvSpPr>
        <p:spPr>
          <a:xfrm>
            <a:off x="1170432" y="914400"/>
            <a:ext cx="10424160" cy="329184"/>
          </a:xfrm>
          <a:prstGeom prst="rect">
            <a:avLst/>
          </a:prstGeom>
          <a:noFill/>
          <a:ln/>
        </p:spPr>
        <p:txBody>
          <a:bodyPr wrap="square" lIns="0" tIns="0" rIns="0" bIns="0" rtlCol="0" anchor="ctr"/>
          <a:lstStyle/>
          <a:p>
            <a:pPr marL="0" indent="0">
              <a:buNone/>
            </a:pPr>
            <a:r>
              <a:rPr lang="en-US" sz="1450" dirty="0">
                <a:solidFill>
                  <a:srgbClr val="7A839E"/>
                </a:solidFill>
                <a:latin typeface="Calibri" pitchFamily="34" charset="0"/>
                <a:ea typeface="Calibri" pitchFamily="34" charset="-122"/>
                <a:cs typeface="Calibri" pitchFamily="34" charset="-120"/>
              </a:rPr>
              <a:t>The new-merchant window is the only place in this export where a new commercial relationship is visible - which is exactly what a promotion buys.</a:t>
            </a:r>
            <a:endParaRPr lang="en-US" sz="1450" dirty="0"/>
          </a:p>
        </p:txBody>
      </p:sp>
      <p:sp>
        <p:nvSpPr>
          <p:cNvPr id="6" name="Shape 4"/>
          <p:cNvSpPr/>
          <p:nvPr/>
        </p:nvSpPr>
        <p:spPr>
          <a:xfrm>
            <a:off x="566928" y="1828800"/>
            <a:ext cx="3520440" cy="1481328"/>
          </a:xfrm>
          <a:prstGeom prst="roundRect">
            <a:avLst>
              <a:gd name="adj" fmla="val 6173"/>
            </a:avLst>
          </a:prstGeom>
          <a:solidFill>
            <a:srgbClr val="F5F7FC"/>
          </a:solidFill>
          <a:ln w="12700">
            <a:solidFill>
              <a:srgbClr val="E4E7F0"/>
            </a:solidFill>
            <a:prstDash val="solid"/>
          </a:ln>
        </p:spPr>
        <p:txBody>
          <a:bodyPr/>
          <a:lstStyle/>
          <a:p>
            <a:endParaRPr lang="en-US"/>
          </a:p>
        </p:txBody>
      </p:sp>
      <p:sp>
        <p:nvSpPr>
          <p:cNvPr id="7" name="Text 5"/>
          <p:cNvSpPr txBox="1"/>
          <p:nvPr/>
        </p:nvSpPr>
        <p:spPr>
          <a:xfrm>
            <a:off x="566928" y="1956816"/>
            <a:ext cx="3520440" cy="713232"/>
          </a:xfrm>
          <a:prstGeom prst="rect">
            <a:avLst/>
          </a:prstGeom>
          <a:noFill/>
          <a:ln/>
        </p:spPr>
        <p:txBody>
          <a:bodyPr wrap="square" lIns="0" tIns="0" rIns="0" bIns="0" rtlCol="0" anchor="ctr"/>
          <a:lstStyle/>
          <a:p>
            <a:pPr marL="0" indent="0" algn="ctr">
              <a:buNone/>
            </a:pPr>
            <a:r>
              <a:rPr lang="en-US" sz="3400" b="1" dirty="0">
                <a:solidFill>
                  <a:srgbClr val="EB6834"/>
                </a:solidFill>
                <a:latin typeface="Cambria" pitchFamily="34" charset="0"/>
                <a:ea typeface="Cambria" pitchFamily="34" charset="-122"/>
                <a:cs typeface="Cambria" pitchFamily="34" charset="-120"/>
              </a:rPr>
              <a:t>+40%</a:t>
            </a:r>
            <a:endParaRPr lang="en-US" sz="3400" dirty="0"/>
          </a:p>
        </p:txBody>
      </p:sp>
      <p:sp>
        <p:nvSpPr>
          <p:cNvPr id="8" name="Text 6"/>
          <p:cNvSpPr txBox="1"/>
          <p:nvPr/>
        </p:nvSpPr>
        <p:spPr>
          <a:xfrm>
            <a:off x="694944" y="2651760"/>
            <a:ext cx="3264408" cy="566928"/>
          </a:xfrm>
          <a:prstGeom prst="rect">
            <a:avLst/>
          </a:prstGeom>
          <a:noFill/>
          <a:ln/>
        </p:spPr>
        <p:txBody>
          <a:bodyPr wrap="square" lIns="0" tIns="0" rIns="0" bIns="0" rtlCol="0" anchor="t"/>
          <a:lstStyle/>
          <a:p>
            <a:pPr marL="0" indent="0" algn="ctr">
              <a:buNone/>
            </a:pPr>
            <a:r>
              <a:rPr lang="en-US" sz="1200" dirty="0">
                <a:solidFill>
                  <a:srgbClr val="3D4664"/>
                </a:solidFill>
                <a:latin typeface="Calibri" pitchFamily="34" charset="0"/>
                <a:ea typeface="Calibri" pitchFamily="34" charset="-122"/>
                <a:cs typeface="Calibri" pitchFamily="34" charset="-120"/>
              </a:rPr>
              <a:t>bigger ticket at a merchant the card has never used: R$118.70 against R$84.70</a:t>
            </a:r>
            <a:endParaRPr lang="en-US" sz="1200" dirty="0"/>
          </a:p>
        </p:txBody>
      </p:sp>
      <p:sp>
        <p:nvSpPr>
          <p:cNvPr id="9" name="Shape 7"/>
          <p:cNvSpPr/>
          <p:nvPr/>
        </p:nvSpPr>
        <p:spPr>
          <a:xfrm>
            <a:off x="4297680" y="1828800"/>
            <a:ext cx="3520440" cy="1481328"/>
          </a:xfrm>
          <a:prstGeom prst="roundRect">
            <a:avLst>
              <a:gd name="adj" fmla="val 6173"/>
            </a:avLst>
          </a:prstGeom>
          <a:solidFill>
            <a:srgbClr val="F5F7FC"/>
          </a:solidFill>
          <a:ln w="12700">
            <a:solidFill>
              <a:srgbClr val="E4E7F0"/>
            </a:solidFill>
            <a:prstDash val="solid"/>
          </a:ln>
        </p:spPr>
        <p:txBody>
          <a:bodyPr/>
          <a:lstStyle/>
          <a:p>
            <a:endParaRPr lang="en-US"/>
          </a:p>
        </p:txBody>
      </p:sp>
      <p:sp>
        <p:nvSpPr>
          <p:cNvPr id="10" name="Text 8"/>
          <p:cNvSpPr txBox="1"/>
          <p:nvPr/>
        </p:nvSpPr>
        <p:spPr>
          <a:xfrm>
            <a:off x="4297680" y="1956816"/>
            <a:ext cx="3520440" cy="713232"/>
          </a:xfrm>
          <a:prstGeom prst="rect">
            <a:avLst/>
          </a:prstGeom>
          <a:noFill/>
          <a:ln/>
        </p:spPr>
        <p:txBody>
          <a:bodyPr wrap="square" lIns="0" tIns="0" rIns="0" bIns="0" rtlCol="0" anchor="ctr"/>
          <a:lstStyle/>
          <a:p>
            <a:pPr marL="0" indent="0" algn="ctr">
              <a:buNone/>
            </a:pPr>
            <a:r>
              <a:rPr lang="en-US" sz="3400" b="1" dirty="0">
                <a:solidFill>
                  <a:srgbClr val="EB6834"/>
                </a:solidFill>
                <a:latin typeface="Cambria" pitchFamily="34" charset="0"/>
                <a:ea typeface="Cambria" pitchFamily="34" charset="-122"/>
                <a:cs typeface="Cambria" pitchFamily="34" charset="-120"/>
              </a:rPr>
              <a:t>2x</a:t>
            </a:r>
            <a:endParaRPr lang="en-US" sz="3400" dirty="0"/>
          </a:p>
        </p:txBody>
      </p:sp>
      <p:sp>
        <p:nvSpPr>
          <p:cNvPr id="11" name="Text 9"/>
          <p:cNvSpPr txBox="1"/>
          <p:nvPr/>
        </p:nvSpPr>
        <p:spPr>
          <a:xfrm>
            <a:off x="4425696" y="2651760"/>
            <a:ext cx="3264408" cy="566928"/>
          </a:xfrm>
          <a:prstGeom prst="rect">
            <a:avLst/>
          </a:prstGeom>
          <a:noFill/>
          <a:ln/>
        </p:spPr>
        <p:txBody>
          <a:bodyPr wrap="square" lIns="0" tIns="0" rIns="0" bIns="0" rtlCol="0" anchor="t"/>
          <a:lstStyle/>
          <a:p>
            <a:pPr marL="0" indent="0" algn="ctr">
              <a:buNone/>
            </a:pPr>
            <a:r>
              <a:rPr lang="en-US" sz="1200" dirty="0">
                <a:solidFill>
                  <a:srgbClr val="3D4664"/>
                </a:solidFill>
                <a:latin typeface="Calibri" pitchFamily="34" charset="0"/>
                <a:ea typeface="Calibri" pitchFamily="34" charset="-122"/>
                <a:cs typeface="Calibri" pitchFamily="34" charset="-120"/>
              </a:rPr>
              <a:t>instalment use on a first visit - 4.2% of purchases split, against 2.5% at known merchants</a:t>
            </a:r>
            <a:endParaRPr lang="en-US" sz="1200" dirty="0"/>
          </a:p>
        </p:txBody>
      </p:sp>
      <p:sp>
        <p:nvSpPr>
          <p:cNvPr id="12" name="Shape 10"/>
          <p:cNvSpPr/>
          <p:nvPr/>
        </p:nvSpPr>
        <p:spPr>
          <a:xfrm>
            <a:off x="8028432" y="1828800"/>
            <a:ext cx="3520440" cy="1481328"/>
          </a:xfrm>
          <a:prstGeom prst="roundRect">
            <a:avLst>
              <a:gd name="adj" fmla="val 6173"/>
            </a:avLst>
          </a:prstGeom>
          <a:solidFill>
            <a:srgbClr val="F5F7FC"/>
          </a:solidFill>
          <a:ln w="12700">
            <a:solidFill>
              <a:srgbClr val="E4E7F0"/>
            </a:solidFill>
            <a:prstDash val="solid"/>
          </a:ln>
        </p:spPr>
        <p:txBody>
          <a:bodyPr/>
          <a:lstStyle/>
          <a:p>
            <a:endParaRPr lang="en-US"/>
          </a:p>
        </p:txBody>
      </p:sp>
      <p:sp>
        <p:nvSpPr>
          <p:cNvPr id="13" name="Text 11"/>
          <p:cNvSpPr txBox="1"/>
          <p:nvPr/>
        </p:nvSpPr>
        <p:spPr>
          <a:xfrm>
            <a:off x="8028432" y="1956816"/>
            <a:ext cx="3520440" cy="713232"/>
          </a:xfrm>
          <a:prstGeom prst="rect">
            <a:avLst/>
          </a:prstGeom>
          <a:noFill/>
          <a:ln/>
        </p:spPr>
        <p:txBody>
          <a:bodyPr wrap="square" lIns="0" tIns="0" rIns="0" bIns="0" rtlCol="0" anchor="ctr"/>
          <a:lstStyle/>
          <a:p>
            <a:pPr marL="0" indent="0" algn="ctr">
              <a:buNone/>
            </a:pPr>
            <a:r>
              <a:rPr lang="en-US" sz="3400" b="1" dirty="0">
                <a:solidFill>
                  <a:srgbClr val="EB6834"/>
                </a:solidFill>
                <a:latin typeface="Cambria" pitchFamily="34" charset="0"/>
                <a:ea typeface="Cambria" pitchFamily="34" charset="-122"/>
                <a:cs typeface="Cambria" pitchFamily="34" charset="-120"/>
              </a:rPr>
              <a:t>13</a:t>
            </a:r>
            <a:endParaRPr lang="en-US" sz="3400" dirty="0"/>
          </a:p>
        </p:txBody>
      </p:sp>
      <p:sp>
        <p:nvSpPr>
          <p:cNvPr id="14" name="Text 12"/>
          <p:cNvSpPr txBox="1"/>
          <p:nvPr/>
        </p:nvSpPr>
        <p:spPr>
          <a:xfrm>
            <a:off x="8156448" y="2651760"/>
            <a:ext cx="3264408" cy="566928"/>
          </a:xfrm>
          <a:prstGeom prst="rect">
            <a:avLst/>
          </a:prstGeom>
          <a:noFill/>
          <a:ln/>
        </p:spPr>
        <p:txBody>
          <a:bodyPr wrap="square" lIns="0" tIns="0" rIns="0" bIns="0" rtlCol="0" anchor="t"/>
          <a:lstStyle/>
          <a:p>
            <a:pPr marL="0" indent="0" algn="ctr">
              <a:buNone/>
            </a:pPr>
            <a:r>
              <a:rPr lang="en-US" sz="1200" dirty="0">
                <a:solidFill>
                  <a:srgbClr val="3D4664"/>
                </a:solidFill>
                <a:latin typeface="Calibri" pitchFamily="34" charset="0"/>
                <a:ea typeface="Calibri" pitchFamily="34" charset="-122"/>
                <a:cs typeface="Calibri" pitchFamily="34" charset="-120"/>
              </a:rPr>
              <a:t>new merchants tried per card in just two months - appetite is not the constraint</a:t>
            </a:r>
            <a:endParaRPr lang="en-US" sz="1200" dirty="0"/>
          </a:p>
        </p:txBody>
      </p:sp>
      <p:sp>
        <p:nvSpPr>
          <p:cNvPr id="15" name="Shape 13"/>
          <p:cNvSpPr/>
          <p:nvPr/>
        </p:nvSpPr>
        <p:spPr>
          <a:xfrm>
            <a:off x="566928" y="3785616"/>
            <a:ext cx="11027664" cy="2395728"/>
          </a:xfrm>
          <a:prstGeom prst="roundRect">
            <a:avLst>
              <a:gd name="adj" fmla="val 3817"/>
            </a:avLst>
          </a:prstGeom>
          <a:solidFill>
            <a:srgbClr val="1E2761"/>
          </a:solidFill>
          <a:ln/>
        </p:spPr>
        <p:txBody>
          <a:bodyPr/>
          <a:lstStyle/>
          <a:p>
            <a:endParaRPr lang="en-US"/>
          </a:p>
        </p:txBody>
      </p:sp>
      <p:sp>
        <p:nvSpPr>
          <p:cNvPr id="16" name="Text 14"/>
          <p:cNvSpPr txBox="1"/>
          <p:nvPr/>
        </p:nvSpPr>
        <p:spPr>
          <a:xfrm>
            <a:off x="978408" y="3968496"/>
            <a:ext cx="100584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Three consequences</a:t>
            </a:r>
            <a:endParaRPr lang="en-US" sz="1900" dirty="0"/>
          </a:p>
        </p:txBody>
      </p:sp>
      <p:sp>
        <p:nvSpPr>
          <p:cNvPr id="17" name="Text 15"/>
          <p:cNvSpPr txBox="1"/>
          <p:nvPr/>
        </p:nvSpPr>
        <p:spPr>
          <a:xfrm>
            <a:off x="978408" y="4443984"/>
            <a:ext cx="10607040" cy="155448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Trying somewhere new is a considered purchase, not an impulse - and it is worth more per transaction.</a:t>
            </a:r>
            <a:endParaRPr lang="en-US" sz="1400" dirty="0"/>
          </a:p>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The one place Elo cardholders reach for instalments is a first visit. That is where an instalment-linked offer belongs, and nowhere else.</a:t>
            </a:r>
            <a:endParaRPr lang="en-US" sz="1400" dirty="0"/>
          </a:p>
          <a:p>
            <a:pPr marL="342900" indent="-342900">
              <a:buSzPct val="100000"/>
              <a:buChar char="•"/>
            </a:pPr>
            <a:r>
              <a:rPr lang="en-US" sz="1400" dirty="0">
                <a:solidFill>
                  <a:srgbClr val="CADCFC"/>
                </a:solidFill>
                <a:latin typeface="Calibri" pitchFamily="34" charset="0"/>
                <a:ea typeface="Calibri" pitchFamily="34" charset="-122"/>
                <a:cs typeface="Calibri" pitchFamily="34" charset="-120"/>
              </a:rPr>
              <a:t>Cardholders are willing to explore. What they lack is direction - which is a targeting problem, not a demand problem.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Where to point the Q4 promotions programme</a:t>
            </a:r>
            <a:endParaRPr lang="en-US" sz="3000" dirty="0"/>
          </a:p>
        </p:txBody>
      </p:sp>
      <p:pic>
        <p:nvPicPr>
          <p:cNvPr id="5" name="Image 0" descr="charts/s8_play_map.png"/>
          <p:cNvPicPr>
            <a:picLocks noChangeAspect="1"/>
          </p:cNvPicPr>
          <p:nvPr/>
        </p:nvPicPr>
        <p:blipFill>
          <a:blip r:embed="rId3"/>
          <a:stretch>
            <a:fillRect/>
          </a:stretch>
        </p:blipFill>
        <p:spPr>
          <a:xfrm>
            <a:off x="365760" y="1170432"/>
            <a:ext cx="7242048" cy="4445702"/>
          </a:xfrm>
          <a:prstGeom prst="rect">
            <a:avLst/>
          </a:prstGeom>
        </p:spPr>
      </p:pic>
      <p:sp>
        <p:nvSpPr>
          <p:cNvPr id="6" name="Shape 3"/>
          <p:cNvSpPr/>
          <p:nvPr/>
        </p:nvSpPr>
        <p:spPr>
          <a:xfrm>
            <a:off x="7571232" y="1115568"/>
            <a:ext cx="4023360" cy="1207008"/>
          </a:xfrm>
          <a:prstGeom prst="roundRect">
            <a:avLst>
              <a:gd name="adj" fmla="val 6061"/>
            </a:avLst>
          </a:prstGeom>
          <a:solidFill>
            <a:srgbClr val="F5F7FC"/>
          </a:solidFill>
          <a:ln w="12700">
            <a:solidFill>
              <a:srgbClr val="E4E7F0"/>
            </a:solidFill>
            <a:prstDash val="solid"/>
          </a:ln>
        </p:spPr>
        <p:txBody>
          <a:bodyPr/>
          <a:lstStyle/>
          <a:p>
            <a:endParaRPr lang="en-US"/>
          </a:p>
        </p:txBody>
      </p:sp>
      <p:sp>
        <p:nvSpPr>
          <p:cNvPr id="7" name="Shape 4"/>
          <p:cNvSpPr/>
          <p:nvPr/>
        </p:nvSpPr>
        <p:spPr>
          <a:xfrm>
            <a:off x="7735824" y="1261872"/>
            <a:ext cx="173736" cy="173736"/>
          </a:xfrm>
          <a:prstGeom prst="ellipse">
            <a:avLst/>
          </a:prstGeom>
          <a:solidFill>
            <a:srgbClr val="1BAF7A"/>
          </a:solidFill>
          <a:ln/>
        </p:spPr>
        <p:txBody>
          <a:bodyPr/>
          <a:lstStyle/>
          <a:p>
            <a:endParaRPr lang="en-US"/>
          </a:p>
        </p:txBody>
      </p:sp>
      <p:sp>
        <p:nvSpPr>
          <p:cNvPr id="8" name="Text 5"/>
          <p:cNvSpPr txBox="1"/>
          <p:nvPr/>
        </p:nvSpPr>
        <p:spPr>
          <a:xfrm>
            <a:off x="7991856" y="1179576"/>
            <a:ext cx="347472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Habit channel</a:t>
            </a:r>
            <a:endParaRPr lang="en-US" sz="1350" dirty="0"/>
          </a:p>
        </p:txBody>
      </p:sp>
      <p:sp>
        <p:nvSpPr>
          <p:cNvPr id="9" name="Text 6"/>
          <p:cNvSpPr txBox="1"/>
          <p:nvPr/>
        </p:nvSpPr>
        <p:spPr>
          <a:xfrm>
            <a:off x="7735824" y="1517904"/>
            <a:ext cx="3712464" cy="749808"/>
          </a:xfrm>
          <a:prstGeom prst="rect">
            <a:avLst/>
          </a:prstGeom>
          <a:noFill/>
          <a:ln/>
        </p:spPr>
        <p:txBody>
          <a:bodyPr wrap="square" lIns="0" tIns="0" rIns="0" bIns="0" rtlCol="0" anchor="t"/>
          <a:lstStyle/>
          <a:p>
            <a:pPr marL="0" indent="0">
              <a:buNone/>
            </a:pPr>
            <a:r>
              <a:rPr lang="en-US" sz="1050" dirty="0">
                <a:solidFill>
                  <a:srgbClr val="3D4664"/>
                </a:solidFill>
                <a:latin typeface="Calibri" pitchFamily="34" charset="0"/>
                <a:ea typeface="Calibri" pitchFamily="34" charset="-122"/>
                <a:cs typeface="Calibri" pitchFamily="34" charset="-120"/>
              </a:rPr>
              <a:t>33, 37, 19, 34, 29, 16, 7 — 78% of volume, reached by 78-97% of cards, yield 878 per 1,000. Deliver offers here; do not discount.</a:t>
            </a:r>
            <a:endParaRPr lang="en-US" sz="1050" dirty="0"/>
          </a:p>
        </p:txBody>
      </p:sp>
      <p:sp>
        <p:nvSpPr>
          <p:cNvPr id="10" name="Shape 7"/>
          <p:cNvSpPr/>
          <p:nvPr/>
        </p:nvSpPr>
        <p:spPr>
          <a:xfrm>
            <a:off x="7571232" y="2450592"/>
            <a:ext cx="4023360" cy="1207008"/>
          </a:xfrm>
          <a:prstGeom prst="roundRect">
            <a:avLst>
              <a:gd name="adj" fmla="val 6061"/>
            </a:avLst>
          </a:prstGeom>
          <a:solidFill>
            <a:srgbClr val="F5F7FC"/>
          </a:solidFill>
          <a:ln w="12700">
            <a:solidFill>
              <a:srgbClr val="E4E7F0"/>
            </a:solidFill>
            <a:prstDash val="solid"/>
          </a:ln>
        </p:spPr>
        <p:txBody>
          <a:bodyPr/>
          <a:lstStyle/>
          <a:p>
            <a:endParaRPr lang="en-US"/>
          </a:p>
        </p:txBody>
      </p:sp>
      <p:sp>
        <p:nvSpPr>
          <p:cNvPr id="11" name="Shape 8"/>
          <p:cNvSpPr/>
          <p:nvPr/>
        </p:nvSpPr>
        <p:spPr>
          <a:xfrm>
            <a:off x="7735824" y="2596896"/>
            <a:ext cx="173736" cy="173736"/>
          </a:xfrm>
          <a:prstGeom prst="ellipse">
            <a:avLst/>
          </a:prstGeom>
          <a:solidFill>
            <a:srgbClr val="2A78D6"/>
          </a:solidFill>
          <a:ln/>
        </p:spPr>
        <p:txBody>
          <a:bodyPr/>
          <a:lstStyle/>
          <a:p>
            <a:endParaRPr lang="en-US"/>
          </a:p>
        </p:txBody>
      </p:sp>
      <p:sp>
        <p:nvSpPr>
          <p:cNvPr id="12" name="Text 9"/>
          <p:cNvSpPr txBox="1"/>
          <p:nvPr/>
        </p:nvSpPr>
        <p:spPr>
          <a:xfrm>
            <a:off x="7991856" y="2514600"/>
            <a:ext cx="347472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Merchant discovery</a:t>
            </a:r>
            <a:endParaRPr lang="en-US" sz="1350" dirty="0"/>
          </a:p>
        </p:txBody>
      </p:sp>
      <p:sp>
        <p:nvSpPr>
          <p:cNvPr id="13" name="Text 10"/>
          <p:cNvSpPr txBox="1"/>
          <p:nvPr/>
        </p:nvSpPr>
        <p:spPr>
          <a:xfrm>
            <a:off x="7735824" y="2852928"/>
            <a:ext cx="3712464" cy="749808"/>
          </a:xfrm>
          <a:prstGeom prst="rect">
            <a:avLst/>
          </a:prstGeom>
          <a:noFill/>
          <a:ln/>
        </p:spPr>
        <p:txBody>
          <a:bodyPr wrap="square" lIns="0" tIns="0" rIns="0" bIns="0" rtlCol="0" anchor="t"/>
          <a:lstStyle/>
          <a:p>
            <a:pPr marL="0" indent="0">
              <a:buNone/>
            </a:pPr>
            <a:r>
              <a:rPr lang="en-US" sz="1050" dirty="0">
                <a:solidFill>
                  <a:srgbClr val="3D4664"/>
                </a:solidFill>
                <a:latin typeface="Calibri" pitchFamily="34" charset="0"/>
                <a:ea typeface="Calibri" pitchFamily="34" charset="-122"/>
                <a:cs typeface="Calibri" pitchFamily="34" charset="-120"/>
              </a:rPr>
              <a:t>27 and 1 — the category is already reached, but cardholders keep trying new merchants inside it. Promote merchants, not the category.</a:t>
            </a:r>
            <a:endParaRPr lang="en-US" sz="1050" dirty="0"/>
          </a:p>
        </p:txBody>
      </p:sp>
      <p:sp>
        <p:nvSpPr>
          <p:cNvPr id="14" name="Shape 11"/>
          <p:cNvSpPr/>
          <p:nvPr/>
        </p:nvSpPr>
        <p:spPr>
          <a:xfrm>
            <a:off x="7571232" y="3785616"/>
            <a:ext cx="4023360" cy="1207008"/>
          </a:xfrm>
          <a:prstGeom prst="roundRect">
            <a:avLst>
              <a:gd name="adj" fmla="val 6061"/>
            </a:avLst>
          </a:prstGeom>
          <a:solidFill>
            <a:srgbClr val="F5F7FC"/>
          </a:solidFill>
          <a:ln w="12700">
            <a:solidFill>
              <a:srgbClr val="E4E7F0"/>
            </a:solidFill>
            <a:prstDash val="solid"/>
          </a:ln>
        </p:spPr>
        <p:txBody>
          <a:bodyPr/>
          <a:lstStyle/>
          <a:p>
            <a:endParaRPr lang="en-US"/>
          </a:p>
        </p:txBody>
      </p:sp>
      <p:sp>
        <p:nvSpPr>
          <p:cNvPr id="15" name="Shape 12"/>
          <p:cNvSpPr/>
          <p:nvPr/>
        </p:nvSpPr>
        <p:spPr>
          <a:xfrm>
            <a:off x="7735824" y="3931920"/>
            <a:ext cx="173736" cy="173736"/>
          </a:xfrm>
          <a:prstGeom prst="ellipse">
            <a:avLst/>
          </a:prstGeom>
          <a:solidFill>
            <a:srgbClr val="EB6834"/>
          </a:solidFill>
          <a:ln/>
        </p:spPr>
        <p:txBody>
          <a:bodyPr/>
          <a:lstStyle/>
          <a:p>
            <a:endParaRPr lang="en-US"/>
          </a:p>
        </p:txBody>
      </p:sp>
      <p:sp>
        <p:nvSpPr>
          <p:cNvPr id="16" name="Text 13"/>
          <p:cNvSpPr txBox="1"/>
          <p:nvPr/>
        </p:nvSpPr>
        <p:spPr>
          <a:xfrm>
            <a:off x="7991856" y="3849624"/>
            <a:ext cx="347472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Category expansion</a:t>
            </a:r>
            <a:endParaRPr lang="en-US" sz="1350" dirty="0"/>
          </a:p>
        </p:txBody>
      </p:sp>
      <p:sp>
        <p:nvSpPr>
          <p:cNvPr id="17" name="Text 14"/>
          <p:cNvSpPr txBox="1"/>
          <p:nvPr/>
        </p:nvSpPr>
        <p:spPr>
          <a:xfrm>
            <a:off x="7735824" y="4187952"/>
            <a:ext cx="3712464" cy="749808"/>
          </a:xfrm>
          <a:prstGeom prst="rect">
            <a:avLst/>
          </a:prstGeom>
          <a:noFill/>
          <a:ln/>
        </p:spPr>
        <p:txBody>
          <a:bodyPr wrap="square" lIns="0" tIns="0" rIns="0" bIns="0" rtlCol="0" anchor="t"/>
          <a:lstStyle/>
          <a:p>
            <a:pPr marL="0" indent="0">
              <a:buNone/>
            </a:pPr>
            <a:r>
              <a:rPr lang="en-US" sz="1050" dirty="0">
                <a:solidFill>
                  <a:srgbClr val="3D4664"/>
                </a:solidFill>
                <a:latin typeface="Calibri" pitchFamily="34" charset="0"/>
                <a:ea typeface="Calibri" pitchFamily="34" charset="-122"/>
                <a:cs typeface="Calibri" pitchFamily="34" charset="-120"/>
              </a:rPr>
              <a:t>17, 20, 18, 32, 36, 31, 12, 30, 25 — reached by under 56% of cards, highest tickets in the network (up to R$315). Introduce the category.</a:t>
            </a:r>
            <a:endParaRPr lang="en-US" sz="1050" dirty="0"/>
          </a:p>
        </p:txBody>
      </p:sp>
      <p:sp>
        <p:nvSpPr>
          <p:cNvPr id="18" name="Shape 15"/>
          <p:cNvSpPr/>
          <p:nvPr/>
        </p:nvSpPr>
        <p:spPr>
          <a:xfrm>
            <a:off x="7571232" y="5120640"/>
            <a:ext cx="4023360" cy="1207008"/>
          </a:xfrm>
          <a:prstGeom prst="roundRect">
            <a:avLst>
              <a:gd name="adj" fmla="val 6061"/>
            </a:avLst>
          </a:prstGeom>
          <a:solidFill>
            <a:srgbClr val="F5F7FC"/>
          </a:solidFill>
          <a:ln w="12700">
            <a:solidFill>
              <a:srgbClr val="E4E7F0"/>
            </a:solidFill>
            <a:prstDash val="solid"/>
          </a:ln>
        </p:spPr>
        <p:txBody>
          <a:bodyPr/>
          <a:lstStyle/>
          <a:p>
            <a:endParaRPr lang="en-US"/>
          </a:p>
        </p:txBody>
      </p:sp>
      <p:sp>
        <p:nvSpPr>
          <p:cNvPr id="19" name="Shape 16"/>
          <p:cNvSpPr/>
          <p:nvPr/>
        </p:nvSpPr>
        <p:spPr>
          <a:xfrm>
            <a:off x="7735824" y="5266944"/>
            <a:ext cx="173736" cy="173736"/>
          </a:xfrm>
          <a:prstGeom prst="ellipse">
            <a:avLst/>
          </a:prstGeom>
          <a:solidFill>
            <a:srgbClr val="8A8A85"/>
          </a:solidFill>
          <a:ln/>
        </p:spPr>
        <p:txBody>
          <a:bodyPr/>
          <a:lstStyle/>
          <a:p>
            <a:endParaRPr lang="en-US"/>
          </a:p>
        </p:txBody>
      </p:sp>
      <p:sp>
        <p:nvSpPr>
          <p:cNvPr id="20" name="Text 17"/>
          <p:cNvSpPr txBox="1"/>
          <p:nvPr/>
        </p:nvSpPr>
        <p:spPr>
          <a:xfrm>
            <a:off x="7991856" y="5184648"/>
            <a:ext cx="3474720" cy="329184"/>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Deprioritise</a:t>
            </a:r>
            <a:endParaRPr lang="en-US" sz="1350" dirty="0"/>
          </a:p>
        </p:txBody>
      </p:sp>
      <p:sp>
        <p:nvSpPr>
          <p:cNvPr id="21" name="Text 18"/>
          <p:cNvSpPr txBox="1"/>
          <p:nvPr/>
        </p:nvSpPr>
        <p:spPr>
          <a:xfrm>
            <a:off x="7735824" y="5522976"/>
            <a:ext cx="3712464" cy="749808"/>
          </a:xfrm>
          <a:prstGeom prst="rect">
            <a:avLst/>
          </a:prstGeom>
          <a:noFill/>
          <a:ln/>
        </p:spPr>
        <p:txBody>
          <a:bodyPr wrap="square" lIns="0" tIns="0" rIns="0" bIns="0" rtlCol="0" anchor="t"/>
          <a:lstStyle/>
          <a:p>
            <a:pPr marL="0" indent="0">
              <a:buNone/>
            </a:pPr>
            <a:r>
              <a:rPr lang="en-US" sz="1050" dirty="0">
                <a:solidFill>
                  <a:srgbClr val="3D4664"/>
                </a:solidFill>
                <a:latin typeface="Calibri" pitchFamily="34" charset="0"/>
                <a:ea typeface="Calibri" pitchFamily="34" charset="-122"/>
                <a:cs typeface="Calibri" pitchFamily="34" charset="-120"/>
              </a:rPr>
              <a:t>21, 39, 15, 41, 8 — their 95% intervals cross the threshold or sit below it. No budget.</a:t>
            </a:r>
            <a:endParaRPr lang="en-US" sz="1050" dirty="0"/>
          </a:p>
        </p:txBody>
      </p:sp>
      <p:sp>
        <p:nvSpPr>
          <p:cNvPr id="22" name="Text 19"/>
          <p:cNvSpPr txBox="1"/>
          <p:nvPr/>
        </p:nvSpPr>
        <p:spPr>
          <a:xfrm>
            <a:off x="365760" y="6108192"/>
            <a:ext cx="7315200" cy="365760"/>
          </a:xfrm>
          <a:prstGeom prst="rect">
            <a:avLst/>
          </a:prstGeom>
          <a:noFill/>
          <a:ln/>
        </p:spPr>
        <p:txBody>
          <a:bodyPr wrap="square" lIns="0" tIns="0" rIns="0" bIns="0" rtlCol="0" anchor="ctr"/>
          <a:lstStyle/>
          <a:p>
            <a:pPr marL="0" indent="0">
              <a:buNone/>
            </a:pPr>
            <a:r>
              <a:rPr lang="en-US" sz="950" i="1" dirty="0">
                <a:solidFill>
                  <a:srgbClr val="7A839E"/>
                </a:solidFill>
                <a:latin typeface="Calibri" pitchFamily="34" charset="0"/>
                <a:ea typeface="Calibri" pitchFamily="34" charset="-122"/>
                <a:cs typeface="Calibri" pitchFamily="34" charset="-120"/>
              </a:rPr>
              <a:t>Novelty Capture Index = share of new-merchant volume / share of incumbent volume, with 95% intervals (delta method).  Bubble size = share of transactions.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1E2761"/>
          </a:solidFill>
          <a:ln/>
        </p:spPr>
        <p:txBody>
          <a:bodyPr/>
          <a:lstStyle/>
          <a:p>
            <a:endParaRPr lang="en-US" dirty="0"/>
          </a:p>
        </p:txBody>
      </p:sp>
      <p:sp>
        <p:nvSpPr>
          <p:cNvPr id="3" name="Text 1"/>
          <p:cNvSpPr txBox="1"/>
          <p:nvPr/>
        </p:nvSpPr>
        <p:spPr>
          <a:xfrm>
            <a:off x="566928" y="3840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txBox="1"/>
          <p:nvPr/>
        </p:nvSpPr>
        <p:spPr>
          <a:xfrm>
            <a:off x="1170432" y="329184"/>
            <a:ext cx="1042416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Five moves for Q4</a:t>
            </a:r>
            <a:endParaRPr lang="en-US" sz="3000" dirty="0"/>
          </a:p>
        </p:txBody>
      </p:sp>
      <p:sp>
        <p:nvSpPr>
          <p:cNvPr id="5" name="Text 3"/>
          <p:cNvSpPr txBox="1"/>
          <p:nvPr/>
        </p:nvSpPr>
        <p:spPr>
          <a:xfrm>
            <a:off x="1170432" y="914400"/>
            <a:ext cx="10424160" cy="329184"/>
          </a:xfrm>
          <a:prstGeom prst="rect">
            <a:avLst/>
          </a:prstGeom>
          <a:noFill/>
          <a:ln/>
        </p:spPr>
        <p:txBody>
          <a:bodyPr wrap="square" lIns="0" tIns="0" rIns="0" bIns="0" rtlCol="0" anchor="ctr"/>
          <a:lstStyle/>
          <a:p>
            <a:pPr marL="0" indent="0">
              <a:buNone/>
            </a:pPr>
            <a:r>
              <a:rPr lang="en-US" sz="1450" dirty="0">
                <a:solidFill>
                  <a:srgbClr val="7A839E"/>
                </a:solidFill>
                <a:latin typeface="Calibri" pitchFamily="34" charset="0"/>
                <a:ea typeface="Calibri" pitchFamily="34" charset="-122"/>
                <a:cs typeface="Calibri" pitchFamily="34" charset="-120"/>
              </a:rPr>
              <a:t>Each one falls out of a specific statistic, not a general </a:t>
            </a:r>
            <a:r>
              <a:rPr lang="en-US" sz="1450" dirty="0" err="1">
                <a:solidFill>
                  <a:srgbClr val="7A839E"/>
                </a:solidFill>
                <a:latin typeface="Calibri" pitchFamily="34" charset="0"/>
                <a:ea typeface="Calibri" pitchFamily="34" charset="-122"/>
                <a:cs typeface="Calibri" pitchFamily="34" charset="-120"/>
              </a:rPr>
              <a:t>principle</a:t>
            </a:r>
            <a:r>
              <a:rPr lang="en-US" sz="1450" dirty="0">
                <a:solidFill>
                  <a:srgbClr val="7A839E"/>
                </a:solidFill>
                <a:latin typeface="Calibri" pitchFamily="34" charset="0"/>
                <a:ea typeface="Calibri" pitchFamily="34" charset="-122"/>
                <a:cs typeface="Calibri" pitchFamily="34" charset="-120"/>
              </a:rPr>
              <a:t>.</a:t>
            </a:r>
            <a:endParaRPr lang="en-US" sz="1450" dirty="0"/>
          </a:p>
        </p:txBody>
      </p:sp>
      <p:sp>
        <p:nvSpPr>
          <p:cNvPr id="6" name="Shape 4"/>
          <p:cNvSpPr/>
          <p:nvPr/>
        </p:nvSpPr>
        <p:spPr>
          <a:xfrm>
            <a:off x="566928" y="1609344"/>
            <a:ext cx="384048" cy="384048"/>
          </a:xfrm>
          <a:prstGeom prst="ellipse">
            <a:avLst/>
          </a:prstGeom>
          <a:solidFill>
            <a:srgbClr val="EB6834"/>
          </a:solidFill>
          <a:ln/>
        </p:spPr>
        <p:txBody>
          <a:bodyPr/>
          <a:lstStyle/>
          <a:p>
            <a:endParaRPr lang="en-US"/>
          </a:p>
        </p:txBody>
      </p:sp>
      <p:sp>
        <p:nvSpPr>
          <p:cNvPr id="7" name="Text 5"/>
          <p:cNvSpPr txBox="1"/>
          <p:nvPr/>
        </p:nvSpPr>
        <p:spPr>
          <a:xfrm>
            <a:off x="566928" y="1609344"/>
            <a:ext cx="384048"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8" name="Text 6"/>
          <p:cNvSpPr txBox="1"/>
          <p:nvPr/>
        </p:nvSpPr>
        <p:spPr>
          <a:xfrm>
            <a:off x="1133856" y="1572768"/>
            <a:ext cx="10332720" cy="31089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Move promotional emphasis from habit to discovery</a:t>
            </a:r>
            <a:endParaRPr lang="en-US" sz="1500" dirty="0"/>
          </a:p>
        </p:txBody>
      </p:sp>
      <p:sp>
        <p:nvSpPr>
          <p:cNvPr id="9" name="Text 7"/>
          <p:cNvSpPr txBox="1"/>
          <p:nvPr/>
        </p:nvSpPr>
        <p:spPr>
          <a:xfrm>
            <a:off x="1133856" y="1883664"/>
            <a:ext cx="10607040" cy="530352"/>
          </a:xfrm>
          <a:prstGeom prst="rect">
            <a:avLst/>
          </a:prstGeom>
          <a:noFill/>
          <a:ln/>
        </p:spPr>
        <p:txBody>
          <a:bodyPr wrap="square" lIns="0" tIns="0" rIns="0" bIns="0" rtlCol="0" anchor="t"/>
          <a:lstStyle/>
          <a:p>
            <a:pPr marL="0" indent="0">
              <a:buNone/>
            </a:pPr>
            <a:r>
              <a:rPr lang="en-US" sz="1200" dirty="0">
                <a:solidFill>
                  <a:srgbClr val="3D4664"/>
                </a:solidFill>
                <a:latin typeface="Calibri" pitchFamily="34" charset="0"/>
                <a:ea typeface="Calibri" pitchFamily="34" charset="-122"/>
                <a:cs typeface="Calibri" pitchFamily="34" charset="-120"/>
              </a:rPr>
              <a:t>Habit channel yields 878 first-visits per 1,000 transactions; discovery subsectors yield 2,060. Reallocating a third of habit exposure is worth ~28,000 extra first-visits - a 2.35x rate difference.</a:t>
            </a:r>
            <a:endParaRPr lang="en-US" sz="1200" dirty="0"/>
          </a:p>
        </p:txBody>
      </p:sp>
      <p:sp>
        <p:nvSpPr>
          <p:cNvPr id="10" name="Shape 8"/>
          <p:cNvSpPr/>
          <p:nvPr/>
        </p:nvSpPr>
        <p:spPr>
          <a:xfrm>
            <a:off x="566928" y="2551176"/>
            <a:ext cx="384048" cy="384048"/>
          </a:xfrm>
          <a:prstGeom prst="ellipse">
            <a:avLst/>
          </a:prstGeom>
          <a:solidFill>
            <a:srgbClr val="EB6834"/>
          </a:solidFill>
          <a:ln/>
        </p:spPr>
        <p:txBody>
          <a:bodyPr/>
          <a:lstStyle/>
          <a:p>
            <a:endParaRPr lang="en-US"/>
          </a:p>
        </p:txBody>
      </p:sp>
      <p:sp>
        <p:nvSpPr>
          <p:cNvPr id="11" name="Text 9"/>
          <p:cNvSpPr txBox="1"/>
          <p:nvPr/>
        </p:nvSpPr>
        <p:spPr>
          <a:xfrm>
            <a:off x="566928" y="2534412"/>
            <a:ext cx="384048"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2" name="Text 10"/>
          <p:cNvSpPr txBox="1"/>
          <p:nvPr/>
        </p:nvSpPr>
        <p:spPr>
          <a:xfrm>
            <a:off x="1133856" y="2514600"/>
            <a:ext cx="10332720" cy="31089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Split the discovery budget two ways</a:t>
            </a:r>
            <a:endParaRPr lang="en-US" sz="1500" dirty="0"/>
          </a:p>
        </p:txBody>
      </p:sp>
      <p:sp>
        <p:nvSpPr>
          <p:cNvPr id="13" name="Text 11"/>
          <p:cNvSpPr txBox="1"/>
          <p:nvPr/>
        </p:nvSpPr>
        <p:spPr>
          <a:xfrm>
            <a:off x="1133856" y="2825496"/>
            <a:ext cx="10607040" cy="530352"/>
          </a:xfrm>
          <a:prstGeom prst="rect">
            <a:avLst/>
          </a:prstGeom>
          <a:noFill/>
          <a:ln/>
        </p:spPr>
        <p:txBody>
          <a:bodyPr wrap="square" lIns="0" tIns="0" rIns="0" bIns="0" rtlCol="0" anchor="t"/>
          <a:lstStyle/>
          <a:p>
            <a:pPr marL="0" indent="0">
              <a:buNone/>
            </a:pPr>
            <a:r>
              <a:rPr lang="en-US" sz="1200" dirty="0">
                <a:solidFill>
                  <a:srgbClr val="3D4664"/>
                </a:solidFill>
                <a:latin typeface="Calibri" pitchFamily="34" charset="0"/>
                <a:ea typeface="Calibri" pitchFamily="34" charset="-122"/>
                <a:cs typeface="Calibri" pitchFamily="34" charset="-120"/>
              </a:rPr>
              <a:t>Subsectors 27 and 1 need merchant-level offers - the category is already reached. Subsectors 17, 20, 18, 32, 36, 31, 12, 30, 25 need category introduction, and carry the highest tickets.</a:t>
            </a:r>
            <a:endParaRPr lang="en-US" sz="1200" dirty="0"/>
          </a:p>
        </p:txBody>
      </p:sp>
      <p:sp>
        <p:nvSpPr>
          <p:cNvPr id="14" name="Shape 12"/>
          <p:cNvSpPr/>
          <p:nvPr/>
        </p:nvSpPr>
        <p:spPr>
          <a:xfrm>
            <a:off x="566928" y="3493008"/>
            <a:ext cx="384048" cy="384048"/>
          </a:xfrm>
          <a:prstGeom prst="ellipse">
            <a:avLst/>
          </a:prstGeom>
          <a:solidFill>
            <a:srgbClr val="EB6834"/>
          </a:solidFill>
          <a:ln/>
        </p:spPr>
        <p:txBody>
          <a:bodyPr/>
          <a:lstStyle/>
          <a:p>
            <a:endParaRPr lang="en-US"/>
          </a:p>
        </p:txBody>
      </p:sp>
      <p:sp>
        <p:nvSpPr>
          <p:cNvPr id="15" name="Text 13"/>
          <p:cNvSpPr txBox="1"/>
          <p:nvPr/>
        </p:nvSpPr>
        <p:spPr>
          <a:xfrm>
            <a:off x="579038" y="3493008"/>
            <a:ext cx="384048"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6" name="Text 14"/>
          <p:cNvSpPr txBox="1"/>
          <p:nvPr/>
        </p:nvSpPr>
        <p:spPr>
          <a:xfrm>
            <a:off x="1133856" y="3456432"/>
            <a:ext cx="10332720" cy="31089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Treat subsector 33 as a channel, not a target</a:t>
            </a:r>
            <a:endParaRPr lang="en-US" sz="1500" dirty="0"/>
          </a:p>
        </p:txBody>
      </p:sp>
      <p:sp>
        <p:nvSpPr>
          <p:cNvPr id="17" name="Text 15"/>
          <p:cNvSpPr txBox="1"/>
          <p:nvPr/>
        </p:nvSpPr>
        <p:spPr>
          <a:xfrm>
            <a:off x="1133856" y="3767328"/>
            <a:ext cx="10607040" cy="530352"/>
          </a:xfrm>
          <a:prstGeom prst="rect">
            <a:avLst/>
          </a:prstGeom>
          <a:noFill/>
          <a:ln/>
        </p:spPr>
        <p:txBody>
          <a:bodyPr wrap="square" lIns="0" tIns="0" rIns="0" bIns="0" rtlCol="0" anchor="t"/>
          <a:lstStyle/>
          <a:p>
            <a:pPr marL="0" indent="0">
              <a:buNone/>
            </a:pPr>
            <a:r>
              <a:rPr lang="en-US" sz="1200" dirty="0">
                <a:solidFill>
                  <a:srgbClr val="3D4664"/>
                </a:solidFill>
                <a:latin typeface="Calibri" pitchFamily="34" charset="0"/>
                <a:ea typeface="Calibri" pitchFamily="34" charset="-122"/>
                <a:cs typeface="Calibri" pitchFamily="34" charset="-120"/>
              </a:rPr>
              <a:t>97% card reach, NCI 0.42 (CI 0.41-0.43). Discounting buys transactions we already had. It has half the merchants its demand needs (coverage index 0.50) - recruit merchants there instead.</a:t>
            </a:r>
            <a:endParaRPr lang="en-US" sz="1200" dirty="0"/>
          </a:p>
        </p:txBody>
      </p:sp>
      <p:sp>
        <p:nvSpPr>
          <p:cNvPr id="18" name="Shape 16"/>
          <p:cNvSpPr/>
          <p:nvPr/>
        </p:nvSpPr>
        <p:spPr>
          <a:xfrm>
            <a:off x="566928" y="4434840"/>
            <a:ext cx="384048" cy="384048"/>
          </a:xfrm>
          <a:prstGeom prst="ellipse">
            <a:avLst/>
          </a:prstGeom>
          <a:solidFill>
            <a:srgbClr val="EB6834"/>
          </a:solidFill>
          <a:ln/>
        </p:spPr>
        <p:txBody>
          <a:bodyPr/>
          <a:lstStyle/>
          <a:p>
            <a:endParaRPr lang="en-US"/>
          </a:p>
        </p:txBody>
      </p:sp>
      <p:sp>
        <p:nvSpPr>
          <p:cNvPr id="19" name="Text 17"/>
          <p:cNvSpPr txBox="1"/>
          <p:nvPr/>
        </p:nvSpPr>
        <p:spPr>
          <a:xfrm>
            <a:off x="566928" y="4451604"/>
            <a:ext cx="384048"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0" name="Text 18"/>
          <p:cNvSpPr txBox="1"/>
          <p:nvPr/>
        </p:nvSpPr>
        <p:spPr>
          <a:xfrm>
            <a:off x="1133856" y="4398264"/>
            <a:ext cx="10332720" cy="31089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Answer the category_1 question before spending</a:t>
            </a:r>
            <a:endParaRPr lang="en-US" sz="1500" dirty="0"/>
          </a:p>
        </p:txBody>
      </p:sp>
      <p:sp>
        <p:nvSpPr>
          <p:cNvPr id="21" name="Text 19"/>
          <p:cNvSpPr txBox="1"/>
          <p:nvPr/>
        </p:nvSpPr>
        <p:spPr>
          <a:xfrm>
            <a:off x="1133856" y="4709160"/>
            <a:ext cx="10607040" cy="530352"/>
          </a:xfrm>
          <a:prstGeom prst="rect">
            <a:avLst/>
          </a:prstGeom>
          <a:noFill/>
          <a:ln/>
        </p:spPr>
        <p:txBody>
          <a:bodyPr wrap="square" lIns="0" tIns="0" rIns="0" bIns="0" rtlCol="0" anchor="t"/>
          <a:lstStyle/>
          <a:p>
            <a:pPr marL="0" indent="0">
              <a:buNone/>
            </a:pPr>
            <a:r>
              <a:rPr lang="en-US" sz="1200" dirty="0">
                <a:solidFill>
                  <a:srgbClr val="3D4664"/>
                </a:solidFill>
                <a:latin typeface="Calibri" pitchFamily="34" charset="0"/>
                <a:ea typeface="Calibri" pitchFamily="34" charset="-122"/>
                <a:cs typeface="Calibri" pitchFamily="34" charset="-120"/>
              </a:rPr>
              <a:t>4.3x decline odds on 6.1% of volume. One week of risk-team time, closed before the Q4 calendar locks - otherwise we promote into a population we then decline.</a:t>
            </a:r>
            <a:endParaRPr lang="en-US" sz="1200" dirty="0"/>
          </a:p>
        </p:txBody>
      </p:sp>
      <p:sp>
        <p:nvSpPr>
          <p:cNvPr id="22" name="Shape 20"/>
          <p:cNvSpPr/>
          <p:nvPr/>
        </p:nvSpPr>
        <p:spPr>
          <a:xfrm>
            <a:off x="566928" y="5376672"/>
            <a:ext cx="384048" cy="384048"/>
          </a:xfrm>
          <a:prstGeom prst="ellipse">
            <a:avLst/>
          </a:prstGeom>
          <a:solidFill>
            <a:srgbClr val="EB6834"/>
          </a:solidFill>
          <a:ln/>
        </p:spPr>
        <p:txBody>
          <a:bodyPr/>
          <a:lstStyle/>
          <a:p>
            <a:endParaRPr lang="en-US"/>
          </a:p>
        </p:txBody>
      </p:sp>
      <p:sp>
        <p:nvSpPr>
          <p:cNvPr id="23" name="Text 21"/>
          <p:cNvSpPr txBox="1"/>
          <p:nvPr/>
        </p:nvSpPr>
        <p:spPr>
          <a:xfrm>
            <a:off x="566928" y="5394466"/>
            <a:ext cx="384048" cy="384048"/>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4" name="Text 22"/>
          <p:cNvSpPr txBox="1"/>
          <p:nvPr/>
        </p:nvSpPr>
        <p:spPr>
          <a:xfrm>
            <a:off x="1133856" y="5340096"/>
            <a:ext cx="10332720" cy="310896"/>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Reactivate on the lapse index, not on recency</a:t>
            </a:r>
            <a:endParaRPr lang="en-US" sz="1500" dirty="0"/>
          </a:p>
        </p:txBody>
      </p:sp>
      <p:sp>
        <p:nvSpPr>
          <p:cNvPr id="25" name="Text 23"/>
          <p:cNvSpPr txBox="1"/>
          <p:nvPr/>
        </p:nvSpPr>
        <p:spPr>
          <a:xfrm>
            <a:off x="1133856" y="5650992"/>
            <a:ext cx="10607040" cy="530352"/>
          </a:xfrm>
          <a:prstGeom prst="rect">
            <a:avLst/>
          </a:prstGeom>
          <a:noFill/>
          <a:ln/>
        </p:spPr>
        <p:txBody>
          <a:bodyPr wrap="square" lIns="0" tIns="0" rIns="0" bIns="0" rtlCol="0" anchor="t"/>
          <a:lstStyle/>
          <a:p>
            <a:pPr marL="0" indent="0">
              <a:buNone/>
            </a:pPr>
            <a:r>
              <a:rPr lang="en-US" sz="1200" dirty="0">
                <a:solidFill>
                  <a:srgbClr val="3D4664"/>
                </a:solidFill>
                <a:latin typeface="Calibri" pitchFamily="34" charset="0"/>
                <a:ea typeface="Calibri" pitchFamily="34" charset="-122"/>
                <a:cs typeface="Calibri" pitchFamily="34" charset="-120"/>
              </a:rPr>
              <a:t>191 cards, 41% of the base, holding 31% of spend, are past 3x their own normal gap between active days. Retention after activation is 74% at twelve months, so these cards are lapsing, not lost - which is what makes them worth reactivating.</a:t>
            </a:r>
            <a:endParaRPr lang="en-US" sz="1200" dirty="0"/>
          </a:p>
        </p:txBody>
      </p:sp>
      <p:sp>
        <p:nvSpPr>
          <p:cNvPr id="26" name="Text 24"/>
          <p:cNvSpPr txBox="1"/>
          <p:nvPr/>
        </p:nvSpPr>
        <p:spPr>
          <a:xfrm>
            <a:off x="566928" y="6254496"/>
            <a:ext cx="11027664" cy="502920"/>
          </a:xfrm>
          <a:prstGeom prst="rect">
            <a:avLst/>
          </a:prstGeom>
          <a:noFill/>
          <a:ln/>
        </p:spPr>
        <p:txBody>
          <a:bodyPr wrap="square" lIns="0" tIns="0" rIns="0" bIns="0" rtlCol="0" anchor="ctr"/>
          <a:lstStyle/>
          <a:p>
            <a:pPr marL="0" indent="0">
              <a:buNone/>
            </a:pPr>
            <a:r>
              <a:rPr lang="en-US" sz="1100" i="1" dirty="0">
                <a:solidFill>
                  <a:srgbClr val="7A839E"/>
                </a:solidFill>
                <a:latin typeface="Calibri" pitchFamily="34" charset="0"/>
                <a:ea typeface="Calibri" pitchFamily="34" charset="-122"/>
                <a:cs typeface="Calibri" pitchFamily="34" charset="-120"/>
              </a:rPr>
              <a:t>What this cannot tell you: no card-level loyalty file was supplied, the two windows are different card samples (16 cards in common), and 463 cards is a small panel. The targeting map ranks where discovery already happens - proving a promotion causes it needs a holdout test. That is the next piece of work.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749808" y="566928"/>
            <a:ext cx="8229600" cy="658368"/>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Major learnings</a:t>
            </a:r>
            <a:endParaRPr lang="en-US" sz="3400" dirty="0"/>
          </a:p>
        </p:txBody>
      </p:sp>
      <p:sp>
        <p:nvSpPr>
          <p:cNvPr id="3" name="Shape 1"/>
          <p:cNvSpPr/>
          <p:nvPr/>
        </p:nvSpPr>
        <p:spPr>
          <a:xfrm>
            <a:off x="749808" y="1591056"/>
            <a:ext cx="310896" cy="310896"/>
          </a:xfrm>
          <a:prstGeom prst="ellipse">
            <a:avLst/>
          </a:prstGeom>
          <a:solidFill>
            <a:srgbClr val="EB6834"/>
          </a:solidFill>
          <a:ln/>
        </p:spPr>
        <p:txBody>
          <a:bodyPr/>
          <a:lstStyle/>
          <a:p>
            <a:endParaRPr lang="en-US"/>
          </a:p>
        </p:txBody>
      </p:sp>
      <p:sp>
        <p:nvSpPr>
          <p:cNvPr id="4" name="Text 2"/>
          <p:cNvSpPr txBox="1"/>
          <p:nvPr/>
        </p:nvSpPr>
        <p:spPr>
          <a:xfrm>
            <a:off x="1243584" y="1554480"/>
            <a:ext cx="1024128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Audit before you analyse</a:t>
            </a:r>
            <a:endParaRPr lang="en-US" sz="1500" dirty="0"/>
          </a:p>
        </p:txBody>
      </p:sp>
      <p:sp>
        <p:nvSpPr>
          <p:cNvPr id="5" name="Text 3"/>
          <p:cNvSpPr txBox="1"/>
          <p:nvPr/>
        </p:nvSpPr>
        <p:spPr>
          <a:xfrm>
            <a:off x="1243584" y="1865376"/>
            <a:ext cx="10424160" cy="5486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99 records were about to hijack every average, and 63 conflicting merchant duplicates would have double-counted ~5,000 transactions. The first hour protected every number after it.</a:t>
            </a:r>
            <a:endParaRPr lang="en-US" sz="1250" dirty="0"/>
          </a:p>
        </p:txBody>
      </p:sp>
      <p:sp>
        <p:nvSpPr>
          <p:cNvPr id="6" name="Shape 4"/>
          <p:cNvSpPr/>
          <p:nvPr/>
        </p:nvSpPr>
        <p:spPr>
          <a:xfrm>
            <a:off x="749808" y="2542032"/>
            <a:ext cx="310896" cy="310896"/>
          </a:xfrm>
          <a:prstGeom prst="ellipse">
            <a:avLst/>
          </a:prstGeom>
          <a:solidFill>
            <a:srgbClr val="EB6834"/>
          </a:solidFill>
          <a:ln/>
        </p:spPr>
        <p:txBody>
          <a:bodyPr/>
          <a:lstStyle/>
          <a:p>
            <a:endParaRPr lang="en-US"/>
          </a:p>
        </p:txBody>
      </p:sp>
      <p:sp>
        <p:nvSpPr>
          <p:cNvPr id="7" name="Text 5"/>
          <p:cNvSpPr txBox="1"/>
          <p:nvPr/>
        </p:nvSpPr>
        <p:spPr>
          <a:xfrm>
            <a:off x="1243584" y="2505456"/>
            <a:ext cx="1024128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Test your own assumptions with someone else's method</a:t>
            </a:r>
            <a:endParaRPr lang="en-US" sz="1500" dirty="0"/>
          </a:p>
        </p:txBody>
      </p:sp>
      <p:sp>
        <p:nvSpPr>
          <p:cNvPr id="8" name="Text 6"/>
          <p:cNvSpPr txBox="1"/>
          <p:nvPr/>
        </p:nvSpPr>
        <p:spPr>
          <a:xfrm>
            <a:off x="1243584" y="2816352"/>
            <a:ext cx="10424160" cy="5486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We adopted a community-derived currency transform, so we validated it ourselves with Benford's Law. The one deviation it found turned out to be Brazilian .90 price points - corroboration twice over.</a:t>
            </a:r>
            <a:endParaRPr lang="en-US" sz="1250" dirty="0"/>
          </a:p>
        </p:txBody>
      </p:sp>
      <p:sp>
        <p:nvSpPr>
          <p:cNvPr id="9" name="Shape 7"/>
          <p:cNvSpPr/>
          <p:nvPr/>
        </p:nvSpPr>
        <p:spPr>
          <a:xfrm>
            <a:off x="749808" y="3493008"/>
            <a:ext cx="310896" cy="310896"/>
          </a:xfrm>
          <a:prstGeom prst="ellipse">
            <a:avLst/>
          </a:prstGeom>
          <a:solidFill>
            <a:srgbClr val="EB6834"/>
          </a:solidFill>
          <a:ln/>
        </p:spPr>
        <p:txBody>
          <a:bodyPr/>
          <a:lstStyle/>
          <a:p>
            <a:endParaRPr lang="en-US"/>
          </a:p>
        </p:txBody>
      </p:sp>
      <p:sp>
        <p:nvSpPr>
          <p:cNvPr id="10" name="Text 8"/>
          <p:cNvSpPr txBox="1"/>
          <p:nvPr/>
        </p:nvSpPr>
        <p:spPr>
          <a:xfrm>
            <a:off x="1243584" y="3456432"/>
            <a:ext cx="1024128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point estimate is an opinion; an interval is a finding</a:t>
            </a:r>
            <a:endParaRPr lang="en-US" sz="1500" dirty="0"/>
          </a:p>
        </p:txBody>
      </p:sp>
      <p:sp>
        <p:nvSpPr>
          <p:cNvPr id="11" name="Text 9"/>
          <p:cNvSpPr txBox="1"/>
          <p:nvPr/>
        </p:nvSpPr>
        <p:spPr>
          <a:xfrm>
            <a:off x="1243584" y="3767328"/>
            <a:ext cx="10424160" cy="5486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Two subsectors looked like discovery categories until their 95% intervals crossed the threshold. Attaching intervals changed which categories got budget.</a:t>
            </a:r>
            <a:endParaRPr lang="en-US" sz="1250" dirty="0"/>
          </a:p>
        </p:txBody>
      </p:sp>
      <p:sp>
        <p:nvSpPr>
          <p:cNvPr id="12" name="Shape 10"/>
          <p:cNvSpPr/>
          <p:nvPr/>
        </p:nvSpPr>
        <p:spPr>
          <a:xfrm>
            <a:off x="749808" y="4443984"/>
            <a:ext cx="310896" cy="310896"/>
          </a:xfrm>
          <a:prstGeom prst="ellipse">
            <a:avLst/>
          </a:prstGeom>
          <a:solidFill>
            <a:srgbClr val="EB6834"/>
          </a:solidFill>
          <a:ln/>
        </p:spPr>
        <p:txBody>
          <a:bodyPr/>
          <a:lstStyle/>
          <a:p>
            <a:endParaRPr lang="en-US"/>
          </a:p>
        </p:txBody>
      </p:sp>
      <p:sp>
        <p:nvSpPr>
          <p:cNvPr id="13" name="Text 11"/>
          <p:cNvSpPr txBox="1"/>
          <p:nvPr/>
        </p:nvSpPr>
        <p:spPr>
          <a:xfrm>
            <a:off x="1243584" y="4407408"/>
            <a:ext cx="1024128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 variable everyone shares cannot target anything</a:t>
            </a:r>
            <a:endParaRPr lang="en-US" sz="1500" dirty="0"/>
          </a:p>
        </p:txBody>
      </p:sp>
      <p:sp>
        <p:nvSpPr>
          <p:cNvPr id="14" name="Text 12"/>
          <p:cNvSpPr txBox="1"/>
          <p:nvPr/>
        </p:nvSpPr>
        <p:spPr>
          <a:xfrm>
            <a:off x="1243584" y="4718304"/>
            <a:ext cx="10424160" cy="5486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Subsector 33 reaches 97% of cards, so its lift against everything is 1.0. Our most-used category is our least useful selector - and our best delivery channel.</a:t>
            </a:r>
            <a:endParaRPr lang="en-US" sz="1250" dirty="0"/>
          </a:p>
        </p:txBody>
      </p:sp>
      <p:sp>
        <p:nvSpPr>
          <p:cNvPr id="15" name="Shape 13"/>
          <p:cNvSpPr/>
          <p:nvPr/>
        </p:nvSpPr>
        <p:spPr>
          <a:xfrm>
            <a:off x="749808" y="5394960"/>
            <a:ext cx="310896" cy="310896"/>
          </a:xfrm>
          <a:prstGeom prst="ellipse">
            <a:avLst/>
          </a:prstGeom>
          <a:solidFill>
            <a:srgbClr val="EB6834"/>
          </a:solidFill>
          <a:ln/>
        </p:spPr>
        <p:txBody>
          <a:bodyPr/>
          <a:lstStyle/>
          <a:p>
            <a:endParaRPr lang="en-US"/>
          </a:p>
        </p:txBody>
      </p:sp>
      <p:sp>
        <p:nvSpPr>
          <p:cNvPr id="16" name="Text 14"/>
          <p:cNvSpPr txBox="1"/>
          <p:nvPr/>
        </p:nvSpPr>
        <p:spPr>
          <a:xfrm>
            <a:off x="1243584" y="5358384"/>
            <a:ext cx="10241280" cy="329184"/>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Measure people against themselves</a:t>
            </a:r>
            <a:endParaRPr lang="en-US" sz="1500" dirty="0"/>
          </a:p>
        </p:txBody>
      </p:sp>
      <p:sp>
        <p:nvSpPr>
          <p:cNvPr id="17" name="Text 15"/>
          <p:cNvSpPr txBox="1"/>
          <p:nvPr/>
        </p:nvSpPr>
        <p:spPr>
          <a:xfrm>
            <a:off x="1243584" y="5669280"/>
            <a:ext cx="10424160" cy="54864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Days-since-last-purchase is meaningless across cards with different rhythms. Dividing by each card's own median gap turned a dead column into a 191-card reactivation list.</a:t>
            </a:r>
            <a:endParaRPr lang="en-US" sz="1250" dirty="0"/>
          </a:p>
        </p:txBody>
      </p:sp>
      <p:sp>
        <p:nvSpPr>
          <p:cNvPr id="18" name="Text 16"/>
          <p:cNvSpPr txBox="1"/>
          <p:nvPr/>
        </p:nvSpPr>
        <p:spPr>
          <a:xfrm>
            <a:off x="749808" y="6272784"/>
            <a:ext cx="7315200" cy="365760"/>
          </a:xfrm>
          <a:prstGeom prst="rect">
            <a:avLst/>
          </a:prstGeom>
          <a:noFill/>
          <a:ln/>
        </p:spPr>
        <p:txBody>
          <a:bodyPr wrap="square" lIns="0" tIns="0" rIns="0" bIns="0" rtlCol="0" anchor="ctr"/>
          <a:lstStyle/>
          <a:p>
            <a:pPr marL="0" indent="0">
              <a:buNone/>
            </a:pPr>
            <a:r>
              <a:rPr lang="en-US" sz="1300" b="1" kern="0" spc="150" dirty="0">
                <a:solidFill>
                  <a:srgbClr val="EB6834"/>
                </a:solidFill>
                <a:latin typeface="Calibri" pitchFamily="34" charset="0"/>
                <a:ea typeface="Calibri" pitchFamily="34" charset="-122"/>
                <a:cs typeface="Calibri" pitchFamily="34" charset="-120"/>
              </a:rPr>
              <a:t>TEAM  ERROR 404      |      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3280</Words>
  <Application>Microsoft Macintosh PowerPoint</Application>
  <PresentationFormat>Widescreen</PresentationFormat>
  <Paragraphs>140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Elo Payment Aggregator - Board Review</dc:title>
  <dc:subject>PptxGenJS Presentation</dc:subject>
  <dc:creator>Team ERROR 404</dc:creator>
  <cp:lastModifiedBy>SAI RAMA LINGA REDDY MARURI</cp:lastModifiedBy>
  <cp:revision>4</cp:revision>
  <dcterms:created xsi:type="dcterms:W3CDTF">2026-09-22T12:17:06Z</dcterms:created>
  <dcterms:modified xsi:type="dcterms:W3CDTF">2026-09-28T05:27:13Z</dcterms:modified>
</cp:coreProperties>
</file>